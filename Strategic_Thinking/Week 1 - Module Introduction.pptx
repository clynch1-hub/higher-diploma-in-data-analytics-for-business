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94" r:id="rId4"/>
    <p:sldId id="262" r:id="rId5"/>
    <p:sldId id="263" r:id="rId6"/>
    <p:sldId id="264" r:id="rId7"/>
    <p:sldId id="265" r:id="rId8"/>
    <p:sldId id="266" r:id="rId9"/>
    <p:sldId id="267" r:id="rId10"/>
    <p:sldId id="271" r:id="rId11"/>
    <p:sldId id="272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9"/>
    <p:restoredTop sz="94658"/>
  </p:normalViewPr>
  <p:slideViewPr>
    <p:cSldViewPr>
      <p:cViewPr varScale="1">
        <p:scale>
          <a:sx n="152" d="100"/>
          <a:sy n="152" d="100"/>
        </p:scale>
        <p:origin x="664" y="1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6074" y="114353"/>
            <a:ext cx="8590915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4472C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4472C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4472C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019800"/>
            <a:ext cx="12192000" cy="838835"/>
          </a:xfrm>
          <a:custGeom>
            <a:avLst/>
            <a:gdLst/>
            <a:ahLst/>
            <a:cxnLst/>
            <a:rect l="l" t="t" r="r" b="b"/>
            <a:pathLst>
              <a:path w="12192000" h="838834">
                <a:moveTo>
                  <a:pt x="12191999" y="838499"/>
                </a:moveTo>
                <a:lnTo>
                  <a:pt x="0" y="8384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838499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50799" y="5871543"/>
            <a:ext cx="2871693" cy="8382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6117134" cy="570298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4472C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019799"/>
            <a:ext cx="12192000" cy="838200"/>
          </a:xfrm>
          <a:custGeom>
            <a:avLst/>
            <a:gdLst/>
            <a:ahLst/>
            <a:cxnLst/>
            <a:rect l="l" t="t" r="r" b="b"/>
            <a:pathLst>
              <a:path w="12192000" h="838200">
                <a:moveTo>
                  <a:pt x="12191999" y="838199"/>
                </a:moveTo>
                <a:lnTo>
                  <a:pt x="0" y="8381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838199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50799" y="5871542"/>
            <a:ext cx="2871689" cy="8381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" y="23928"/>
            <a:ext cx="9456160" cy="10966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4472C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8362" y="1542512"/>
            <a:ext cx="11348720" cy="2878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tahmed@cct.i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khealy@cct.i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orbes.com/sites/annlatham/2017/10/29/what-the-heck-is-a-strategy-anyway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jp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jp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.jpg"/><Relationship Id="rId5" Type="http://schemas.openxmlformats.org/officeDocument/2006/relationships/image" Target="../media/image34.jpg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5578319" cy="520064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47465" y="1654798"/>
            <a:ext cx="6390640" cy="135763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 marR="5080" indent="746125">
              <a:lnSpc>
                <a:spcPts val="4970"/>
              </a:lnSpc>
              <a:spcBef>
                <a:spcPts val="725"/>
              </a:spcBef>
            </a:pPr>
            <a:r>
              <a:rPr sz="4600" b="1" spc="-10" dirty="0">
                <a:latin typeface="Calibri"/>
                <a:cs typeface="Calibri"/>
              </a:rPr>
              <a:t>Strategic</a:t>
            </a:r>
            <a:r>
              <a:rPr sz="4600" b="1" spc="-140" dirty="0">
                <a:latin typeface="Calibri"/>
                <a:cs typeface="Calibri"/>
              </a:rPr>
              <a:t> </a:t>
            </a:r>
            <a:r>
              <a:rPr sz="4600" b="1" dirty="0">
                <a:latin typeface="Calibri"/>
                <a:cs typeface="Calibri"/>
              </a:rPr>
              <a:t>Business</a:t>
            </a:r>
            <a:r>
              <a:rPr sz="4600" b="1" spc="-140" dirty="0">
                <a:latin typeface="Calibri"/>
                <a:cs typeface="Calibri"/>
              </a:rPr>
              <a:t> </a:t>
            </a:r>
            <a:r>
              <a:rPr sz="4600" b="1" spc="-50" dirty="0">
                <a:latin typeface="Calibri"/>
                <a:cs typeface="Calibri"/>
              </a:rPr>
              <a:t>&amp; </a:t>
            </a:r>
            <a:r>
              <a:rPr sz="4600" b="1" dirty="0">
                <a:latin typeface="Calibri"/>
                <a:cs typeface="Calibri"/>
              </a:rPr>
              <a:t>Professional</a:t>
            </a:r>
            <a:r>
              <a:rPr sz="4600" b="1" spc="-240" dirty="0">
                <a:latin typeface="Calibri"/>
                <a:cs typeface="Calibri"/>
              </a:rPr>
              <a:t> </a:t>
            </a:r>
            <a:r>
              <a:rPr sz="4600" b="1" spc="-10" dirty="0">
                <a:latin typeface="Calibri"/>
                <a:cs typeface="Calibri"/>
              </a:rPr>
              <a:t>Development</a:t>
            </a:r>
            <a:endParaRPr sz="4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07933" y="3757965"/>
            <a:ext cx="5189220" cy="162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10" dirty="0">
                <a:latin typeface="Calibri"/>
                <a:cs typeface="Calibri"/>
              </a:rPr>
              <a:t>Welcome,</a:t>
            </a:r>
            <a:r>
              <a:rPr sz="2100" b="1" spc="-5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and</a:t>
            </a:r>
            <a:r>
              <a:rPr sz="2100" b="1" spc="-45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thanks</a:t>
            </a:r>
            <a:r>
              <a:rPr sz="2100" b="1" spc="-45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for</a:t>
            </a:r>
            <a:r>
              <a:rPr sz="2100" b="1" spc="-45" dirty="0">
                <a:latin typeface="Calibri"/>
                <a:cs typeface="Calibri"/>
              </a:rPr>
              <a:t> </a:t>
            </a:r>
            <a:r>
              <a:rPr sz="2100" b="1" spc="-10" dirty="0">
                <a:latin typeface="Calibri"/>
                <a:cs typeface="Calibri"/>
              </a:rPr>
              <a:t>joining!</a:t>
            </a:r>
            <a:endParaRPr sz="2100">
              <a:latin typeface="Calibri"/>
              <a:cs typeface="Calibri"/>
            </a:endParaRPr>
          </a:p>
          <a:p>
            <a:pPr marL="12700" marR="5080">
              <a:lnSpc>
                <a:spcPct val="200000"/>
              </a:lnSpc>
            </a:pPr>
            <a:r>
              <a:rPr sz="2100" b="1" spc="-30" dirty="0">
                <a:latin typeface="Calibri"/>
                <a:cs typeface="Calibri"/>
              </a:rPr>
              <a:t>Your</a:t>
            </a:r>
            <a:r>
              <a:rPr sz="2100" b="1" spc="-65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microphone</a:t>
            </a:r>
            <a:r>
              <a:rPr sz="2100" b="1" spc="-6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has</a:t>
            </a:r>
            <a:r>
              <a:rPr sz="2100" b="1" spc="-6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been</a:t>
            </a:r>
            <a:r>
              <a:rPr sz="2100" b="1" spc="-6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muted</a:t>
            </a:r>
            <a:r>
              <a:rPr sz="2100" b="1" spc="-6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by</a:t>
            </a:r>
            <a:r>
              <a:rPr sz="2100" b="1" spc="-6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the</a:t>
            </a:r>
            <a:r>
              <a:rPr sz="2100" b="1" spc="-60" dirty="0">
                <a:latin typeface="Calibri"/>
                <a:cs typeface="Calibri"/>
              </a:rPr>
              <a:t> </a:t>
            </a:r>
            <a:r>
              <a:rPr sz="2100" b="1" spc="-10" dirty="0">
                <a:latin typeface="Calibri"/>
                <a:cs typeface="Calibri"/>
              </a:rPr>
              <a:t>tutor. </a:t>
            </a:r>
            <a:r>
              <a:rPr sz="2100" b="1" dirty="0">
                <a:latin typeface="Calibri"/>
                <a:cs typeface="Calibri"/>
              </a:rPr>
              <a:t>The</a:t>
            </a:r>
            <a:r>
              <a:rPr sz="2100" b="1" spc="-45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class</a:t>
            </a:r>
            <a:r>
              <a:rPr sz="2100" b="1" spc="-4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will</a:t>
            </a:r>
            <a:r>
              <a:rPr sz="2100" b="1" spc="-4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begin</a:t>
            </a:r>
            <a:r>
              <a:rPr sz="2100" b="1" spc="-45" dirty="0">
                <a:latin typeface="Calibri"/>
                <a:cs typeface="Calibri"/>
              </a:rPr>
              <a:t> </a:t>
            </a:r>
            <a:r>
              <a:rPr sz="2100" b="1" spc="-10" dirty="0">
                <a:latin typeface="Calibri"/>
                <a:cs typeface="Calibri"/>
              </a:rPr>
              <a:t>shortly</a:t>
            </a:r>
            <a:r>
              <a:rPr sz="2100" b="1" spc="-10" dirty="0">
                <a:latin typeface="Arial"/>
                <a:cs typeface="Arial"/>
              </a:rPr>
              <a:t>…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2900" y="109209"/>
            <a:ext cx="32969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10" dirty="0">
                <a:latin typeface="Calibri"/>
                <a:cs typeface="Calibri"/>
              </a:rPr>
              <a:t>Housekeeping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43600" y="1955488"/>
            <a:ext cx="2475230" cy="894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" algn="ctr">
              <a:lnSpc>
                <a:spcPct val="100000"/>
              </a:lnSpc>
              <a:spcBef>
                <a:spcPts val="100"/>
              </a:spcBef>
            </a:pPr>
            <a:r>
              <a:rPr sz="1900" b="1" dirty="0">
                <a:latin typeface="Calibri"/>
                <a:cs typeface="Calibri"/>
              </a:rPr>
              <a:t>Put</a:t>
            </a:r>
            <a:r>
              <a:rPr sz="1900" b="1" spc="-5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your</a:t>
            </a:r>
            <a:r>
              <a:rPr sz="1900" b="1" spc="-55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camera</a:t>
            </a:r>
            <a:r>
              <a:rPr sz="1900" b="1" spc="-5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on</a:t>
            </a:r>
            <a:r>
              <a:rPr sz="1900" b="1" spc="-55" dirty="0">
                <a:latin typeface="Calibri"/>
                <a:cs typeface="Calibri"/>
              </a:rPr>
              <a:t> </a:t>
            </a:r>
            <a:r>
              <a:rPr sz="1900" b="1" spc="-25" dirty="0">
                <a:latin typeface="Calibri"/>
                <a:cs typeface="Calibri"/>
              </a:rPr>
              <a:t>if </a:t>
            </a:r>
            <a:r>
              <a:rPr sz="1900" b="1" dirty="0">
                <a:latin typeface="Calibri"/>
                <a:cs typeface="Calibri"/>
              </a:rPr>
              <a:t>possible</a:t>
            </a:r>
            <a:r>
              <a:rPr sz="1900" b="1" spc="-6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-</a:t>
            </a:r>
            <a:r>
              <a:rPr sz="1900" b="1" spc="-60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especially </a:t>
            </a:r>
            <a:r>
              <a:rPr sz="1900" b="1" dirty="0">
                <a:latin typeface="Calibri"/>
                <a:cs typeface="Calibri"/>
              </a:rPr>
              <a:t>when</a:t>
            </a:r>
            <a:r>
              <a:rPr sz="1900" b="1" spc="-4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in</a:t>
            </a:r>
            <a:r>
              <a:rPr sz="1900" b="1" spc="-40" dirty="0">
                <a:latin typeface="Calibri"/>
                <a:cs typeface="Calibri"/>
              </a:rPr>
              <a:t> </a:t>
            </a:r>
            <a:r>
              <a:rPr sz="1900" b="1" spc="-20" dirty="0">
                <a:latin typeface="Calibri"/>
                <a:cs typeface="Calibri"/>
              </a:rPr>
              <a:t>breakout</a:t>
            </a:r>
            <a:r>
              <a:rPr sz="1900" b="1" spc="-40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rooms</a:t>
            </a:r>
            <a:endParaRPr sz="19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7313" y="377167"/>
            <a:ext cx="1604598" cy="16045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9437" y="1179466"/>
            <a:ext cx="1636732" cy="163673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75106" y="2922331"/>
            <a:ext cx="1874520" cy="894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  <a:spcBef>
                <a:spcPts val="100"/>
              </a:spcBef>
            </a:pPr>
            <a:r>
              <a:rPr sz="1900" b="1" dirty="0">
                <a:latin typeface="Calibri"/>
                <a:cs typeface="Calibri"/>
              </a:rPr>
              <a:t>Mute</a:t>
            </a:r>
            <a:r>
              <a:rPr sz="1900" b="1" spc="-85" dirty="0">
                <a:latin typeface="Calibri"/>
                <a:cs typeface="Calibri"/>
              </a:rPr>
              <a:t> </a:t>
            </a:r>
            <a:r>
              <a:rPr sz="1900" b="1" spc="-20" dirty="0">
                <a:latin typeface="Calibri"/>
                <a:cs typeface="Calibri"/>
              </a:rPr>
              <a:t>your </a:t>
            </a:r>
            <a:r>
              <a:rPr sz="1900" b="1" spc="-10" dirty="0">
                <a:latin typeface="Calibri"/>
                <a:cs typeface="Calibri"/>
              </a:rPr>
              <a:t>microphone</a:t>
            </a:r>
            <a:r>
              <a:rPr sz="1900" b="1" spc="-4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-</a:t>
            </a:r>
            <a:r>
              <a:rPr sz="1900" b="1" spc="-40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until asked</a:t>
            </a:r>
            <a:r>
              <a:rPr sz="1900" b="1" spc="-6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not</a:t>
            </a:r>
            <a:r>
              <a:rPr sz="1900" b="1" spc="-55" dirty="0">
                <a:latin typeface="Calibri"/>
                <a:cs typeface="Calibri"/>
              </a:rPr>
              <a:t> </a:t>
            </a:r>
            <a:r>
              <a:rPr sz="1900" b="1" spc="-25" dirty="0">
                <a:latin typeface="Calibri"/>
                <a:cs typeface="Calibri"/>
              </a:rPr>
              <a:t>to!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21725" y="3292312"/>
            <a:ext cx="2010932" cy="201093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749900" y="5204139"/>
            <a:ext cx="161861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11150">
              <a:lnSpc>
                <a:spcPct val="100000"/>
              </a:lnSpc>
              <a:spcBef>
                <a:spcPts val="100"/>
              </a:spcBef>
            </a:pPr>
            <a:r>
              <a:rPr sz="1900" b="1" spc="-10" dirty="0">
                <a:latin typeface="Calibri"/>
                <a:cs typeface="Calibri"/>
              </a:rPr>
              <a:t>Write</a:t>
            </a:r>
            <a:r>
              <a:rPr sz="1900" b="1" spc="-75" dirty="0">
                <a:latin typeface="Calibri"/>
                <a:cs typeface="Calibri"/>
              </a:rPr>
              <a:t> </a:t>
            </a:r>
            <a:r>
              <a:rPr sz="1900" b="1" spc="-25" dirty="0">
                <a:latin typeface="Calibri"/>
                <a:cs typeface="Calibri"/>
              </a:rPr>
              <a:t>any </a:t>
            </a:r>
            <a:r>
              <a:rPr sz="1900" b="1" spc="-10" dirty="0">
                <a:latin typeface="Calibri"/>
                <a:cs typeface="Calibri"/>
              </a:rPr>
              <a:t>questions</a:t>
            </a:r>
            <a:r>
              <a:rPr sz="1900" b="1" spc="-55" dirty="0">
                <a:latin typeface="Calibri"/>
                <a:cs typeface="Calibri"/>
              </a:rPr>
              <a:t> </a:t>
            </a:r>
            <a:r>
              <a:rPr sz="1900" b="1" spc="-20" dirty="0">
                <a:latin typeface="Calibri"/>
                <a:cs typeface="Calibri"/>
              </a:rPr>
              <a:t>down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35257" y="3292316"/>
            <a:ext cx="1797599" cy="179759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8199739" y="5181872"/>
            <a:ext cx="126746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15265">
              <a:lnSpc>
                <a:spcPct val="100000"/>
              </a:lnSpc>
              <a:spcBef>
                <a:spcPts val="100"/>
              </a:spcBef>
            </a:pPr>
            <a:r>
              <a:rPr sz="1900" b="1" spc="-10" dirty="0">
                <a:latin typeface="Calibri"/>
                <a:cs typeface="Calibri"/>
              </a:rPr>
              <a:t>Manage </a:t>
            </a:r>
            <a:r>
              <a:rPr sz="1900" b="1" spc="-20" dirty="0">
                <a:latin typeface="Calibri"/>
                <a:cs typeface="Calibri"/>
              </a:rPr>
              <a:t>distractions!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C87DE-8CB4-5BF6-ED66-4AFAFA441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" y="23928"/>
            <a:ext cx="9456160" cy="923330"/>
          </a:xfrm>
        </p:spPr>
        <p:txBody>
          <a:bodyPr/>
          <a:lstStyle/>
          <a:p>
            <a:r>
              <a:rPr lang="en-IE" b="1" dirty="0"/>
              <a:t>Contacting</a:t>
            </a:r>
            <a:r>
              <a:rPr lang="en-IE" b="1" spc="-130" dirty="0"/>
              <a:t> </a:t>
            </a:r>
            <a:r>
              <a:rPr lang="en-IE" b="1" spc="-35" dirty="0"/>
              <a:t>me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5A561-901C-C5D9-04F0-054264368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8362" y="1542512"/>
            <a:ext cx="11348720" cy="1877437"/>
          </a:xfrm>
        </p:spPr>
        <p:txBody>
          <a:bodyPr/>
          <a:lstStyle/>
          <a:p>
            <a:pPr marL="0" algn="l" rtl="0"/>
            <a:r>
              <a:rPr lang="en-US" sz="2400" b="1" dirty="0"/>
              <a:t>Email: </a:t>
            </a:r>
            <a:r>
              <a:rPr lang="en-US" sz="2400" b="1" dirty="0">
                <a:hlinkClick r:id="rId2"/>
              </a:rPr>
              <a:t>tahmed@cct.ie</a:t>
            </a:r>
            <a:endParaRPr lang="en-US" sz="2400" b="1" dirty="0"/>
          </a:p>
          <a:p>
            <a:pPr marL="0" algn="l" rtl="0"/>
            <a:endParaRPr lang="en-US" sz="2400" b="1" dirty="0"/>
          </a:p>
          <a:p>
            <a:pPr algn="l" rtl="0"/>
            <a:r>
              <a:rPr lang="en-IE" sz="2400" spc="-10" dirty="0">
                <a:cs typeface="Calibri"/>
              </a:rPr>
              <a:t>Always</a:t>
            </a:r>
            <a:r>
              <a:rPr lang="en-IE" sz="2400" spc="-75" dirty="0">
                <a:cs typeface="Calibri"/>
              </a:rPr>
              <a:t> </a:t>
            </a:r>
            <a:r>
              <a:rPr lang="en-IE" sz="2400" dirty="0">
                <a:cs typeface="Calibri"/>
              </a:rPr>
              <a:t>add</a:t>
            </a:r>
            <a:r>
              <a:rPr lang="en-IE" sz="2400" spc="-70" dirty="0">
                <a:cs typeface="Calibri"/>
              </a:rPr>
              <a:t> </a:t>
            </a:r>
            <a:r>
              <a:rPr lang="en-IE" sz="2400" dirty="0">
                <a:cs typeface="Calibri"/>
              </a:rPr>
              <a:t>your</a:t>
            </a:r>
            <a:r>
              <a:rPr lang="en-IE" sz="2400" spc="-70" dirty="0">
                <a:cs typeface="Calibri"/>
              </a:rPr>
              <a:t> </a:t>
            </a:r>
            <a:r>
              <a:rPr lang="en-IE" sz="2400" dirty="0">
                <a:cs typeface="Calibri"/>
              </a:rPr>
              <a:t>name,</a:t>
            </a:r>
            <a:r>
              <a:rPr lang="en-IE" sz="2400" spc="-70" dirty="0">
                <a:cs typeface="Calibri"/>
              </a:rPr>
              <a:t> </a:t>
            </a:r>
            <a:r>
              <a:rPr lang="en-IE" sz="2400" spc="-10" dirty="0">
                <a:cs typeface="Calibri"/>
              </a:rPr>
              <a:t>student</a:t>
            </a:r>
            <a:r>
              <a:rPr lang="en-IE" sz="2400" spc="-70" dirty="0">
                <a:cs typeface="Calibri"/>
              </a:rPr>
              <a:t> </a:t>
            </a:r>
            <a:r>
              <a:rPr lang="en-IE" sz="2400" dirty="0">
                <a:cs typeface="Calibri"/>
              </a:rPr>
              <a:t>number</a:t>
            </a:r>
            <a:r>
              <a:rPr lang="en-IE" sz="2400" spc="-70" dirty="0">
                <a:cs typeface="Calibri"/>
              </a:rPr>
              <a:t> </a:t>
            </a:r>
            <a:r>
              <a:rPr lang="en-IE" sz="2400" dirty="0">
                <a:cs typeface="Calibri"/>
              </a:rPr>
              <a:t>and</a:t>
            </a:r>
            <a:r>
              <a:rPr lang="en-IE" sz="2400" spc="-70" dirty="0">
                <a:cs typeface="Calibri"/>
              </a:rPr>
              <a:t> </a:t>
            </a:r>
            <a:r>
              <a:rPr lang="en-IE" sz="2400" dirty="0">
                <a:cs typeface="Calibri"/>
              </a:rPr>
              <a:t>class</a:t>
            </a:r>
            <a:r>
              <a:rPr lang="en-IE" sz="2400" spc="-70" dirty="0">
                <a:cs typeface="Calibri"/>
              </a:rPr>
              <a:t> </a:t>
            </a:r>
            <a:r>
              <a:rPr lang="en-IE" sz="2400" dirty="0">
                <a:cs typeface="Calibri"/>
              </a:rPr>
              <a:t>in</a:t>
            </a:r>
            <a:r>
              <a:rPr lang="en-IE" sz="2400" spc="-70" dirty="0">
                <a:cs typeface="Calibri"/>
              </a:rPr>
              <a:t> </a:t>
            </a:r>
            <a:r>
              <a:rPr lang="en-IE" sz="2400" dirty="0">
                <a:cs typeface="Calibri"/>
              </a:rPr>
              <a:t>your</a:t>
            </a:r>
            <a:r>
              <a:rPr lang="en-IE" sz="2400" spc="-70" dirty="0">
                <a:cs typeface="Calibri"/>
              </a:rPr>
              <a:t> </a:t>
            </a:r>
            <a:r>
              <a:rPr lang="en-IE" sz="2400" dirty="0">
                <a:cs typeface="Calibri"/>
              </a:rPr>
              <a:t>email</a:t>
            </a:r>
            <a:r>
              <a:rPr lang="en-IE" sz="2400" spc="-70" dirty="0">
                <a:cs typeface="Calibri"/>
              </a:rPr>
              <a:t> </a:t>
            </a:r>
            <a:r>
              <a:rPr lang="en-IE" sz="2400" dirty="0">
                <a:cs typeface="Calibri"/>
              </a:rPr>
              <a:t>and</a:t>
            </a:r>
            <a:r>
              <a:rPr lang="en-IE" sz="2400" spc="-25" dirty="0">
                <a:cs typeface="Calibri"/>
              </a:rPr>
              <a:t> </a:t>
            </a:r>
            <a:r>
              <a:rPr lang="en-IE" sz="2400" spc="-10" dirty="0">
                <a:cs typeface="Calibri"/>
              </a:rPr>
              <a:t>always </a:t>
            </a:r>
            <a:r>
              <a:rPr lang="en-IE" sz="2400" dirty="0">
                <a:cs typeface="Calibri"/>
              </a:rPr>
              <a:t>send</a:t>
            </a:r>
            <a:r>
              <a:rPr lang="en-IE" sz="2400" spc="-70" dirty="0">
                <a:cs typeface="Calibri"/>
              </a:rPr>
              <a:t> </a:t>
            </a:r>
            <a:r>
              <a:rPr lang="en-IE" sz="2400" dirty="0">
                <a:cs typeface="Calibri"/>
              </a:rPr>
              <a:t>emails</a:t>
            </a:r>
            <a:r>
              <a:rPr lang="en-IE" sz="2400" spc="-65" dirty="0">
                <a:cs typeface="Calibri"/>
              </a:rPr>
              <a:t> </a:t>
            </a:r>
            <a:r>
              <a:rPr lang="en-IE" sz="2400" dirty="0">
                <a:cs typeface="Calibri"/>
              </a:rPr>
              <a:t>from</a:t>
            </a:r>
            <a:r>
              <a:rPr lang="en-IE" sz="2400" spc="-70" dirty="0">
                <a:cs typeface="Calibri"/>
              </a:rPr>
              <a:t> </a:t>
            </a:r>
            <a:r>
              <a:rPr lang="en-IE" sz="2400" dirty="0">
                <a:cs typeface="Calibri"/>
              </a:rPr>
              <a:t>your</a:t>
            </a:r>
            <a:r>
              <a:rPr lang="en-IE" sz="2400" spc="-70" dirty="0">
                <a:cs typeface="Calibri"/>
              </a:rPr>
              <a:t> </a:t>
            </a:r>
            <a:r>
              <a:rPr lang="en-IE" sz="2400" dirty="0">
                <a:cs typeface="Calibri"/>
              </a:rPr>
              <a:t>CCT</a:t>
            </a:r>
            <a:r>
              <a:rPr lang="en-IE" sz="2400" spc="-70" dirty="0">
                <a:cs typeface="Calibri"/>
              </a:rPr>
              <a:t> </a:t>
            </a:r>
            <a:r>
              <a:rPr lang="en-IE" sz="2400" spc="-10" dirty="0">
                <a:cs typeface="Calibri"/>
              </a:rPr>
              <a:t>student</a:t>
            </a:r>
            <a:r>
              <a:rPr lang="en-IE" sz="2400" spc="-70" dirty="0">
                <a:cs typeface="Calibri"/>
              </a:rPr>
              <a:t> </a:t>
            </a:r>
            <a:r>
              <a:rPr lang="en-IE" sz="2400" dirty="0">
                <a:cs typeface="Calibri"/>
              </a:rPr>
              <a:t>email</a:t>
            </a:r>
            <a:r>
              <a:rPr lang="en-IE" sz="2400" spc="-70" dirty="0">
                <a:cs typeface="Calibri"/>
              </a:rPr>
              <a:t> </a:t>
            </a:r>
            <a:r>
              <a:rPr lang="en-IE" sz="2400" spc="-10" dirty="0">
                <a:cs typeface="Calibri"/>
              </a:rPr>
              <a:t>address.</a:t>
            </a:r>
            <a:endParaRPr lang="en-IE" sz="2400" dirty="0">
              <a:cs typeface="Calibri"/>
            </a:endParaRPr>
          </a:p>
          <a:p>
            <a:pPr marL="0" algn="l" rtl="0"/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279642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871541"/>
            <a:ext cx="12192000" cy="986790"/>
            <a:chOff x="0" y="5871541"/>
            <a:chExt cx="12192000" cy="986790"/>
          </a:xfrm>
        </p:grpSpPr>
        <p:sp>
          <p:nvSpPr>
            <p:cNvPr id="3" name="object 3"/>
            <p:cNvSpPr/>
            <p:nvPr/>
          </p:nvSpPr>
          <p:spPr>
            <a:xfrm>
              <a:off x="0" y="6019800"/>
              <a:ext cx="12192000" cy="838835"/>
            </a:xfrm>
            <a:custGeom>
              <a:avLst/>
              <a:gdLst/>
              <a:ahLst/>
              <a:cxnLst/>
              <a:rect l="l" t="t" r="r" b="b"/>
              <a:pathLst>
                <a:path w="12192000" h="838834">
                  <a:moveTo>
                    <a:pt x="12191999" y="838499"/>
                  </a:moveTo>
                  <a:lnTo>
                    <a:pt x="0" y="8384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838499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0799" y="5871543"/>
              <a:ext cx="2871693" cy="8382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6007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100"/>
              </a:spcBef>
            </a:pPr>
            <a:r>
              <a:rPr sz="3900" b="1" dirty="0">
                <a:latin typeface="Calibri"/>
                <a:cs typeface="Calibri"/>
              </a:rPr>
              <a:t>What</a:t>
            </a:r>
            <a:r>
              <a:rPr sz="3900" b="1" spc="-65" dirty="0">
                <a:latin typeface="Calibri"/>
                <a:cs typeface="Calibri"/>
              </a:rPr>
              <a:t> </a:t>
            </a:r>
            <a:r>
              <a:rPr sz="3900" b="1" dirty="0">
                <a:latin typeface="Calibri"/>
                <a:cs typeface="Calibri"/>
              </a:rPr>
              <a:t>you</a:t>
            </a:r>
            <a:r>
              <a:rPr sz="3900" b="1" spc="-65" dirty="0">
                <a:latin typeface="Calibri"/>
                <a:cs typeface="Calibri"/>
              </a:rPr>
              <a:t> </a:t>
            </a:r>
            <a:r>
              <a:rPr sz="3900" b="1" dirty="0">
                <a:latin typeface="Calibri"/>
                <a:cs typeface="Calibri"/>
              </a:rPr>
              <a:t>can</a:t>
            </a:r>
            <a:r>
              <a:rPr sz="3900" b="1" spc="-60" dirty="0">
                <a:latin typeface="Calibri"/>
                <a:cs typeface="Calibri"/>
              </a:rPr>
              <a:t> </a:t>
            </a:r>
            <a:r>
              <a:rPr sz="3900" b="1" dirty="0">
                <a:latin typeface="Calibri"/>
                <a:cs typeface="Calibri"/>
              </a:rPr>
              <a:t>expect</a:t>
            </a:r>
            <a:r>
              <a:rPr sz="3900" b="1" spc="-65" dirty="0">
                <a:latin typeface="Calibri"/>
                <a:cs typeface="Calibri"/>
              </a:rPr>
              <a:t> </a:t>
            </a:r>
            <a:r>
              <a:rPr sz="3900" b="1" dirty="0">
                <a:latin typeface="Calibri"/>
                <a:cs typeface="Calibri"/>
              </a:rPr>
              <a:t>of</a:t>
            </a:r>
            <a:r>
              <a:rPr sz="3900" b="1" spc="-60" dirty="0">
                <a:latin typeface="Calibri"/>
                <a:cs typeface="Calibri"/>
              </a:rPr>
              <a:t> </a:t>
            </a:r>
            <a:r>
              <a:rPr sz="3900" b="1" spc="-25" dirty="0">
                <a:latin typeface="Calibri"/>
                <a:cs typeface="Calibri"/>
              </a:rPr>
              <a:t>me</a:t>
            </a:r>
            <a:endParaRPr sz="3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9879" y="1745084"/>
            <a:ext cx="9927590" cy="265811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37515" marR="5080" indent="-425450">
              <a:lnSpc>
                <a:spcPct val="100400"/>
              </a:lnSpc>
              <a:spcBef>
                <a:spcPts val="85"/>
              </a:spcBef>
              <a:buSzPct val="67857"/>
              <a:buChar char="•"/>
              <a:tabLst>
                <a:tab pos="437515" algn="l"/>
              </a:tabLst>
            </a:pPr>
            <a:r>
              <a:rPr sz="2800" spc="-10" dirty="0">
                <a:latin typeface="Calibri"/>
                <a:cs typeface="Calibri"/>
              </a:rPr>
              <a:t>Knowledgeable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passionate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willing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pass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this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you</a:t>
            </a:r>
            <a:endParaRPr sz="2800">
              <a:latin typeface="Calibri"/>
              <a:cs typeface="Calibri"/>
            </a:endParaRPr>
          </a:p>
          <a:p>
            <a:pPr marL="437515" indent="-424815">
              <a:lnSpc>
                <a:spcPct val="100000"/>
              </a:lnSpc>
              <a:spcBef>
                <a:spcPts val="1315"/>
              </a:spcBef>
              <a:buSzPct val="67857"/>
              <a:buChar char="•"/>
              <a:tabLst>
                <a:tab pos="437515" algn="l"/>
              </a:tabLst>
            </a:pPr>
            <a:r>
              <a:rPr sz="2800" dirty="0">
                <a:latin typeface="Calibri"/>
                <a:cs typeface="Calibri"/>
              </a:rPr>
              <a:t>100%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effort</a:t>
            </a:r>
            <a:endParaRPr sz="2800">
              <a:latin typeface="Calibri"/>
              <a:cs typeface="Calibri"/>
            </a:endParaRPr>
          </a:p>
          <a:p>
            <a:pPr marL="437515" indent="-424815">
              <a:lnSpc>
                <a:spcPct val="100000"/>
              </a:lnSpc>
              <a:spcBef>
                <a:spcPts val="1300"/>
              </a:spcBef>
              <a:buSzPct val="67857"/>
              <a:buChar char="•"/>
              <a:tabLst>
                <a:tab pos="437515" algn="l"/>
              </a:tabLst>
            </a:pPr>
            <a:r>
              <a:rPr sz="2800" dirty="0">
                <a:latin typeface="Calibri"/>
                <a:cs typeface="Calibri"/>
              </a:rPr>
              <a:t>Assess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module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fairly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transparently</a:t>
            </a:r>
            <a:endParaRPr sz="2800">
              <a:latin typeface="Calibri"/>
              <a:cs typeface="Calibri"/>
            </a:endParaRPr>
          </a:p>
          <a:p>
            <a:pPr marL="437515" indent="-424815">
              <a:lnSpc>
                <a:spcPct val="100000"/>
              </a:lnSpc>
              <a:spcBef>
                <a:spcPts val="1300"/>
              </a:spcBef>
              <a:buSzPct val="67857"/>
              <a:buChar char="•"/>
              <a:tabLst>
                <a:tab pos="437515" algn="l"/>
              </a:tabLst>
            </a:pPr>
            <a:r>
              <a:rPr sz="2800" dirty="0">
                <a:latin typeface="Calibri"/>
                <a:cs typeface="Calibri"/>
              </a:rPr>
              <a:t>If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don’t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know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answer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question,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will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try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find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out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871541"/>
            <a:ext cx="12192000" cy="986790"/>
            <a:chOff x="0" y="5871541"/>
            <a:chExt cx="12192000" cy="986790"/>
          </a:xfrm>
        </p:grpSpPr>
        <p:sp>
          <p:nvSpPr>
            <p:cNvPr id="3" name="object 3"/>
            <p:cNvSpPr/>
            <p:nvPr/>
          </p:nvSpPr>
          <p:spPr>
            <a:xfrm>
              <a:off x="0" y="6019800"/>
              <a:ext cx="12192000" cy="838835"/>
            </a:xfrm>
            <a:custGeom>
              <a:avLst/>
              <a:gdLst/>
              <a:ahLst/>
              <a:cxnLst/>
              <a:rect l="l" t="t" r="r" b="b"/>
              <a:pathLst>
                <a:path w="12192000" h="838834">
                  <a:moveTo>
                    <a:pt x="12191999" y="838499"/>
                  </a:moveTo>
                  <a:lnTo>
                    <a:pt x="0" y="8384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838499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0799" y="5871543"/>
              <a:ext cx="2871693" cy="8382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307" rIns="0" bIns="0" rtlCol="0">
            <a:spAutoFit/>
          </a:bodyPr>
          <a:lstStyle/>
          <a:p>
            <a:pPr marL="200660">
              <a:lnSpc>
                <a:spcPct val="100000"/>
              </a:lnSpc>
              <a:spcBef>
                <a:spcPts val="100"/>
              </a:spcBef>
            </a:pPr>
            <a:r>
              <a:rPr sz="3900" b="1" dirty="0">
                <a:latin typeface="Calibri"/>
                <a:cs typeface="Calibri"/>
              </a:rPr>
              <a:t>What</a:t>
            </a:r>
            <a:r>
              <a:rPr sz="3900" b="1" spc="-50" dirty="0">
                <a:latin typeface="Calibri"/>
                <a:cs typeface="Calibri"/>
              </a:rPr>
              <a:t> </a:t>
            </a:r>
            <a:r>
              <a:rPr sz="3900" b="1" dirty="0">
                <a:latin typeface="Calibri"/>
                <a:cs typeface="Calibri"/>
              </a:rPr>
              <a:t>I</a:t>
            </a:r>
            <a:r>
              <a:rPr sz="3900" b="1" spc="-50" dirty="0">
                <a:latin typeface="Calibri"/>
                <a:cs typeface="Calibri"/>
              </a:rPr>
              <a:t> </a:t>
            </a:r>
            <a:r>
              <a:rPr sz="3900" b="1" dirty="0">
                <a:latin typeface="Calibri"/>
                <a:cs typeface="Calibri"/>
              </a:rPr>
              <a:t>expect</a:t>
            </a:r>
            <a:r>
              <a:rPr sz="3900" b="1" spc="-45" dirty="0">
                <a:latin typeface="Calibri"/>
                <a:cs typeface="Calibri"/>
              </a:rPr>
              <a:t> </a:t>
            </a:r>
            <a:r>
              <a:rPr sz="3900" b="1" dirty="0">
                <a:latin typeface="Calibri"/>
                <a:cs typeface="Calibri"/>
              </a:rPr>
              <a:t>of</a:t>
            </a:r>
            <a:r>
              <a:rPr sz="3900" b="1" spc="-50" dirty="0">
                <a:latin typeface="Calibri"/>
                <a:cs typeface="Calibri"/>
              </a:rPr>
              <a:t> </a:t>
            </a:r>
            <a:r>
              <a:rPr sz="3900" b="1" spc="-25" dirty="0">
                <a:latin typeface="Calibri"/>
                <a:cs typeface="Calibri"/>
              </a:rPr>
              <a:t>you</a:t>
            </a:r>
            <a:endParaRPr sz="3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3179" y="1141241"/>
            <a:ext cx="11067415" cy="433451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396875" indent="-376555">
              <a:lnSpc>
                <a:spcPct val="100000"/>
              </a:lnSpc>
              <a:spcBef>
                <a:spcPts val="1000"/>
              </a:spcBef>
              <a:buSzPct val="80769"/>
              <a:buFont typeface="Arial MT"/>
              <a:buChar char="●"/>
              <a:tabLst>
                <a:tab pos="396875" algn="l"/>
              </a:tabLst>
            </a:pPr>
            <a:r>
              <a:rPr sz="2600" dirty="0">
                <a:latin typeface="Calibri"/>
                <a:cs typeface="Calibri"/>
              </a:rPr>
              <a:t>Come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all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lectures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arrive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time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(Punctual)</a:t>
            </a:r>
            <a:endParaRPr sz="2600">
              <a:latin typeface="Calibri"/>
              <a:cs typeface="Calibri"/>
            </a:endParaRPr>
          </a:p>
          <a:p>
            <a:pPr marL="396875" indent="-376555">
              <a:lnSpc>
                <a:spcPct val="100000"/>
              </a:lnSpc>
              <a:spcBef>
                <a:spcPts val="900"/>
              </a:spcBef>
              <a:buSzPct val="80769"/>
              <a:buFont typeface="Arial MT"/>
              <a:buChar char="●"/>
              <a:tabLst>
                <a:tab pos="396875" algn="l"/>
              </a:tabLst>
            </a:pPr>
            <a:r>
              <a:rPr sz="2600" spc="-10" dirty="0">
                <a:latin typeface="Calibri"/>
                <a:cs typeface="Calibri"/>
              </a:rPr>
              <a:t>Contribute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fully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during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individual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teamwork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activities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(Positive)</a:t>
            </a:r>
            <a:endParaRPr sz="2600">
              <a:latin typeface="Calibri"/>
              <a:cs typeface="Calibri"/>
            </a:endParaRPr>
          </a:p>
          <a:p>
            <a:pPr marL="396875" indent="-376555">
              <a:lnSpc>
                <a:spcPct val="100000"/>
              </a:lnSpc>
              <a:spcBef>
                <a:spcPts val="800"/>
              </a:spcBef>
              <a:buSzPct val="80769"/>
              <a:buFont typeface="Arial MT"/>
              <a:buChar char="●"/>
              <a:tabLst>
                <a:tab pos="396875" algn="l"/>
              </a:tabLst>
            </a:pPr>
            <a:r>
              <a:rPr sz="2600" dirty="0">
                <a:latin typeface="Calibri"/>
                <a:cs typeface="Calibri"/>
              </a:rPr>
              <a:t>Lead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your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learning</a:t>
            </a:r>
            <a:endParaRPr sz="2600">
              <a:latin typeface="Calibri"/>
              <a:cs typeface="Calibri"/>
            </a:endParaRPr>
          </a:p>
          <a:p>
            <a:pPr marL="790575" marR="553085" lvl="1" indent="-354330">
              <a:lnSpc>
                <a:spcPct val="100000"/>
              </a:lnSpc>
              <a:spcBef>
                <a:spcPts val="810"/>
              </a:spcBef>
              <a:buFont typeface="Arial MT"/>
              <a:buChar char="○"/>
              <a:tabLst>
                <a:tab pos="790575" algn="l"/>
              </a:tabLst>
            </a:pPr>
            <a:r>
              <a:rPr sz="2300" spc="-10" dirty="0">
                <a:latin typeface="Calibri"/>
                <a:cs typeface="Calibri"/>
              </a:rPr>
              <a:t>Mention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any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difficulties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you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have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(Ask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Questions!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–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there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no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such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thing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as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silly question)</a:t>
            </a:r>
            <a:endParaRPr sz="2300">
              <a:latin typeface="Calibri"/>
              <a:cs typeface="Calibri"/>
            </a:endParaRPr>
          </a:p>
          <a:p>
            <a:pPr marL="346075" indent="-325755">
              <a:lnSpc>
                <a:spcPct val="100000"/>
              </a:lnSpc>
              <a:spcBef>
                <a:spcPts val="890"/>
              </a:spcBef>
              <a:buSzPct val="80769"/>
              <a:buFont typeface="Arial MT"/>
              <a:buChar char="●"/>
              <a:tabLst>
                <a:tab pos="346075" algn="l"/>
              </a:tabLst>
            </a:pPr>
            <a:r>
              <a:rPr sz="2600" dirty="0">
                <a:latin typeface="Calibri"/>
                <a:cs typeface="Calibri"/>
              </a:rPr>
              <a:t>Check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Moodle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announcements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(Prepared)</a:t>
            </a:r>
            <a:endParaRPr sz="2600">
              <a:latin typeface="Calibri"/>
              <a:cs typeface="Calibri"/>
            </a:endParaRPr>
          </a:p>
          <a:p>
            <a:pPr marL="396875" indent="-384175">
              <a:lnSpc>
                <a:spcPct val="100000"/>
              </a:lnSpc>
              <a:spcBef>
                <a:spcPts val="700"/>
              </a:spcBef>
              <a:buSzPct val="84615"/>
              <a:buFont typeface="Arial MT"/>
              <a:buChar char="●"/>
              <a:tabLst>
                <a:tab pos="396875" algn="l"/>
              </a:tabLst>
            </a:pPr>
            <a:r>
              <a:rPr sz="2600" dirty="0">
                <a:latin typeface="Calibri"/>
                <a:cs typeface="Calibri"/>
              </a:rPr>
              <a:t>Produce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original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work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deliver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assignments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time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(Productive)</a:t>
            </a:r>
            <a:endParaRPr sz="2600">
              <a:latin typeface="Calibri"/>
              <a:cs typeface="Calibri"/>
            </a:endParaRPr>
          </a:p>
          <a:p>
            <a:pPr marL="396875" marR="5080" indent="-361950">
              <a:lnSpc>
                <a:spcPct val="124600"/>
              </a:lnSpc>
              <a:spcBef>
                <a:spcPts val="30"/>
              </a:spcBef>
              <a:buSzPct val="73076"/>
              <a:buFont typeface="Arial MT"/>
              <a:buChar char="●"/>
              <a:tabLst>
                <a:tab pos="396875" algn="l"/>
                <a:tab pos="1695450" algn="l"/>
              </a:tabLst>
            </a:pPr>
            <a:r>
              <a:rPr sz="2600" dirty="0">
                <a:latin typeface="Calibri"/>
                <a:cs typeface="Calibri"/>
              </a:rPr>
              <a:t>When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discussions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progress,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someone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talking,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everyone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else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is </a:t>
            </a:r>
            <a:r>
              <a:rPr sz="2600" spc="-10" dirty="0">
                <a:latin typeface="Calibri"/>
                <a:cs typeface="Calibri"/>
              </a:rPr>
              <a:t>listening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b="1" dirty="0">
                <a:latin typeface="Calibri"/>
                <a:cs typeface="Calibri"/>
              </a:rPr>
              <a:t>(Polite/</a:t>
            </a:r>
            <a:r>
              <a:rPr sz="2600" b="1" spc="-13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Respectful)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871541"/>
            <a:ext cx="12192000" cy="986790"/>
            <a:chOff x="0" y="5871541"/>
            <a:chExt cx="12192000" cy="986790"/>
          </a:xfrm>
        </p:grpSpPr>
        <p:sp>
          <p:nvSpPr>
            <p:cNvPr id="3" name="object 3"/>
            <p:cNvSpPr/>
            <p:nvPr/>
          </p:nvSpPr>
          <p:spPr>
            <a:xfrm>
              <a:off x="0" y="6019800"/>
              <a:ext cx="12192000" cy="838835"/>
            </a:xfrm>
            <a:custGeom>
              <a:avLst/>
              <a:gdLst/>
              <a:ahLst/>
              <a:cxnLst/>
              <a:rect l="l" t="t" r="r" b="b"/>
              <a:pathLst>
                <a:path w="12192000" h="838834">
                  <a:moveTo>
                    <a:pt x="12191999" y="838499"/>
                  </a:moveTo>
                  <a:lnTo>
                    <a:pt x="0" y="8384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838499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0799" y="5871543"/>
              <a:ext cx="2871693" cy="8382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172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latin typeface="Calibri"/>
                <a:cs typeface="Calibri"/>
              </a:rPr>
              <a:t>Module</a:t>
            </a:r>
            <a:r>
              <a:rPr sz="4400" b="1" spc="-40" dirty="0">
                <a:latin typeface="Calibri"/>
                <a:cs typeface="Calibri"/>
              </a:rPr>
              <a:t> </a:t>
            </a:r>
            <a:r>
              <a:rPr sz="4400" b="1" spc="-10" dirty="0">
                <a:latin typeface="Calibri"/>
                <a:cs typeface="Calibri"/>
              </a:rPr>
              <a:t>Structure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9050" y="1334975"/>
            <a:ext cx="10447020" cy="378714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800" b="1" dirty="0">
                <a:latin typeface="Calibri"/>
                <a:cs typeface="Calibri"/>
              </a:rPr>
              <a:t>Online</a:t>
            </a:r>
            <a:r>
              <a:rPr sz="2800" b="1" spc="-3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Lectures</a:t>
            </a:r>
            <a:endParaRPr sz="2800">
              <a:latin typeface="Calibri"/>
              <a:cs typeface="Calibri"/>
            </a:endParaRPr>
          </a:p>
          <a:p>
            <a:pPr marL="760095" indent="-232410">
              <a:lnSpc>
                <a:spcPct val="100000"/>
              </a:lnSpc>
              <a:spcBef>
                <a:spcPts val="1000"/>
              </a:spcBef>
              <a:buSzPct val="85714"/>
              <a:buFont typeface="Arial MT"/>
              <a:buChar char="•"/>
              <a:tabLst>
                <a:tab pos="760095" algn="l"/>
              </a:tabLst>
            </a:pPr>
            <a:r>
              <a:rPr sz="2800" spc="-10" dirty="0">
                <a:latin typeface="Calibri"/>
                <a:cs typeface="Calibri"/>
              </a:rPr>
              <a:t>Theory</a:t>
            </a:r>
            <a:endParaRPr sz="2800">
              <a:latin typeface="Calibri"/>
              <a:cs typeface="Calibri"/>
            </a:endParaRPr>
          </a:p>
          <a:p>
            <a:pPr marL="760095" indent="-232410">
              <a:lnSpc>
                <a:spcPct val="100000"/>
              </a:lnSpc>
              <a:spcBef>
                <a:spcPts val="1100"/>
              </a:spcBef>
              <a:buSzPct val="85714"/>
              <a:buFont typeface="Arial MT"/>
              <a:buChar char="•"/>
              <a:tabLst>
                <a:tab pos="760095" algn="l"/>
              </a:tabLst>
            </a:pPr>
            <a:r>
              <a:rPr sz="2800" dirty="0">
                <a:latin typeface="Calibri"/>
                <a:cs typeface="Calibri"/>
              </a:rPr>
              <a:t>Case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Studies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/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Recommended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Reading</a:t>
            </a:r>
            <a:endParaRPr sz="2800">
              <a:latin typeface="Calibri"/>
              <a:cs typeface="Calibri"/>
            </a:endParaRPr>
          </a:p>
          <a:p>
            <a:pPr marL="760095" indent="-232410">
              <a:lnSpc>
                <a:spcPct val="100000"/>
              </a:lnSpc>
              <a:spcBef>
                <a:spcPts val="1000"/>
              </a:spcBef>
              <a:buSzPct val="85714"/>
              <a:buFont typeface="Arial MT"/>
              <a:buChar char="•"/>
              <a:tabLst>
                <a:tab pos="760095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Exercises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/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Research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/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Group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Breakout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Rooms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39"/>
              </a:spcBef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marL="759460" marR="5080" indent="-232410">
              <a:lnSpc>
                <a:spcPct val="100000"/>
              </a:lnSpc>
              <a:buSzPct val="85714"/>
              <a:buFont typeface="Arial MT"/>
              <a:buChar char="•"/>
              <a:tabLst>
                <a:tab pos="761365" algn="l"/>
              </a:tabLst>
            </a:pPr>
            <a:r>
              <a:rPr sz="2800" spc="-50" dirty="0">
                <a:latin typeface="Calibri"/>
                <a:cs typeface="Calibri"/>
              </a:rPr>
              <a:t>Tea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/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Coffee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Break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typically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10-</a:t>
            </a:r>
            <a:r>
              <a:rPr sz="2800" dirty="0">
                <a:latin typeface="Calibri"/>
                <a:cs typeface="Calibri"/>
              </a:rPr>
              <a:t>15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minutes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middle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each 	</a:t>
            </a:r>
            <a:r>
              <a:rPr sz="2800" spc="-10" dirty="0">
                <a:latin typeface="Calibri"/>
                <a:cs typeface="Calibri"/>
              </a:rPr>
              <a:t>class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871541"/>
            <a:ext cx="12192000" cy="986790"/>
            <a:chOff x="0" y="5871541"/>
            <a:chExt cx="12192000" cy="986790"/>
          </a:xfrm>
        </p:grpSpPr>
        <p:sp>
          <p:nvSpPr>
            <p:cNvPr id="3" name="object 3"/>
            <p:cNvSpPr/>
            <p:nvPr/>
          </p:nvSpPr>
          <p:spPr>
            <a:xfrm>
              <a:off x="0" y="6019800"/>
              <a:ext cx="12192000" cy="838835"/>
            </a:xfrm>
            <a:custGeom>
              <a:avLst/>
              <a:gdLst/>
              <a:ahLst/>
              <a:cxnLst/>
              <a:rect l="l" t="t" r="r" b="b"/>
              <a:pathLst>
                <a:path w="12192000" h="838834">
                  <a:moveTo>
                    <a:pt x="12191999" y="838499"/>
                  </a:moveTo>
                  <a:lnTo>
                    <a:pt x="0" y="8384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838499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0799" y="5871543"/>
              <a:ext cx="2871693" cy="8382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1600" y="177291"/>
            <a:ext cx="67576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latin typeface="Calibri"/>
                <a:cs typeface="Calibri"/>
              </a:rPr>
              <a:t>Questions,</a:t>
            </a:r>
            <a:r>
              <a:rPr sz="4000" b="1" spc="-165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comments,</a:t>
            </a:r>
            <a:r>
              <a:rPr sz="4000" b="1" spc="-165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feedback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4821" y="991809"/>
            <a:ext cx="8510905" cy="4559935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294005" indent="-281305">
              <a:lnSpc>
                <a:spcPct val="100000"/>
              </a:lnSpc>
              <a:spcBef>
                <a:spcPts val="1145"/>
              </a:spcBef>
              <a:buFont typeface="Arial MT"/>
              <a:buChar char="•"/>
              <a:tabLst>
                <a:tab pos="294005" algn="l"/>
              </a:tabLst>
            </a:pPr>
            <a:r>
              <a:rPr sz="3200" spc="-25" dirty="0">
                <a:latin typeface="Calibri"/>
                <a:cs typeface="Calibri"/>
              </a:rPr>
              <a:t>In-</a:t>
            </a:r>
            <a:r>
              <a:rPr sz="3200" dirty="0">
                <a:latin typeface="Calibri"/>
                <a:cs typeface="Calibri"/>
              </a:rPr>
              <a:t>class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Questions:</a:t>
            </a:r>
            <a:endParaRPr sz="3200">
              <a:latin typeface="Calibri"/>
              <a:cs typeface="Calibri"/>
            </a:endParaRPr>
          </a:p>
          <a:p>
            <a:pPr marL="1143635" lvl="1" indent="-232410">
              <a:lnSpc>
                <a:spcPct val="100000"/>
              </a:lnSpc>
              <a:spcBef>
                <a:spcPts val="915"/>
              </a:spcBef>
              <a:buSzPct val="85714"/>
              <a:buFont typeface="Arial MT"/>
              <a:buChar char="•"/>
              <a:tabLst>
                <a:tab pos="1143635" algn="l"/>
              </a:tabLst>
            </a:pPr>
            <a:r>
              <a:rPr sz="2800" dirty="0">
                <a:latin typeface="Calibri"/>
                <a:cs typeface="Calibri"/>
              </a:rPr>
              <a:t>At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question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intervals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</a:t>
            </a:r>
            <a:endParaRPr sz="2800">
              <a:latin typeface="Calibri"/>
              <a:cs typeface="Calibri"/>
            </a:endParaRPr>
          </a:p>
          <a:p>
            <a:pPr marL="1143635" lvl="1" indent="-232410">
              <a:lnSpc>
                <a:spcPct val="100000"/>
              </a:lnSpc>
              <a:spcBef>
                <a:spcPts val="900"/>
              </a:spcBef>
              <a:buSzPct val="85714"/>
              <a:buFont typeface="Arial MT"/>
              <a:buChar char="•"/>
              <a:tabLst>
                <a:tab pos="1143635" algn="l"/>
              </a:tabLst>
            </a:pPr>
            <a:r>
              <a:rPr sz="2800" dirty="0">
                <a:latin typeface="Calibri"/>
                <a:cs typeface="Calibri"/>
              </a:rPr>
              <a:t>Via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email</a:t>
            </a:r>
            <a:endParaRPr sz="2800">
              <a:latin typeface="Calibri"/>
              <a:cs typeface="Calibri"/>
            </a:endParaRPr>
          </a:p>
          <a:p>
            <a:pPr marL="2084070">
              <a:lnSpc>
                <a:spcPct val="100000"/>
              </a:lnSpc>
              <a:spcBef>
                <a:spcPts val="1100"/>
              </a:spcBef>
            </a:pPr>
            <a:r>
              <a:rPr sz="2800" b="1" u="heavy" spc="-1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DO</a:t>
            </a:r>
            <a:r>
              <a:rPr sz="2800" b="1" u="heavy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NOT</a:t>
            </a:r>
            <a:r>
              <a:rPr sz="2800" b="1" u="heavy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USE</a:t>
            </a:r>
            <a:r>
              <a:rPr sz="2800" b="1" u="heavy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ZOOM</a:t>
            </a:r>
            <a:r>
              <a:rPr sz="2800" b="1" u="heavy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b="1" u="heavy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CHAT</a:t>
            </a:r>
            <a:r>
              <a:rPr sz="2800" b="1" u="heavy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FOR</a:t>
            </a:r>
            <a:r>
              <a:rPr sz="2800" b="1" u="heavy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b="1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QUESTIONS!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25"/>
              </a:spcBef>
            </a:pPr>
            <a:endParaRPr sz="2800">
              <a:latin typeface="Calibri"/>
              <a:cs typeface="Calibri"/>
            </a:endParaRPr>
          </a:p>
          <a:p>
            <a:pPr marL="294005" indent="-281305">
              <a:lnSpc>
                <a:spcPct val="100000"/>
              </a:lnSpc>
              <a:buFont typeface="Arial MT"/>
              <a:buChar char="•"/>
              <a:tabLst>
                <a:tab pos="294005" algn="l"/>
              </a:tabLst>
            </a:pPr>
            <a:r>
              <a:rPr sz="3200" spc="-10" dirty="0">
                <a:latin typeface="Calibri"/>
                <a:cs typeface="Calibri"/>
              </a:rPr>
              <a:t>Feedback,</a:t>
            </a:r>
            <a:r>
              <a:rPr sz="3200" spc="-1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comments,</a:t>
            </a:r>
            <a:r>
              <a:rPr sz="3200" spc="-1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problems:</a:t>
            </a:r>
            <a:endParaRPr sz="3200">
              <a:latin typeface="Calibri"/>
              <a:cs typeface="Calibri"/>
            </a:endParaRPr>
          </a:p>
          <a:p>
            <a:pPr marL="1143635" lvl="1" indent="-232410">
              <a:lnSpc>
                <a:spcPct val="100000"/>
              </a:lnSpc>
              <a:spcBef>
                <a:spcPts val="1020"/>
              </a:spcBef>
              <a:buSzPct val="85714"/>
              <a:buFont typeface="Arial MT"/>
              <a:buChar char="•"/>
              <a:tabLst>
                <a:tab pos="1143635" algn="l"/>
              </a:tabLst>
            </a:pPr>
            <a:r>
              <a:rPr sz="2800" dirty="0">
                <a:latin typeface="Calibri"/>
                <a:cs typeface="Calibri"/>
              </a:rPr>
              <a:t>Always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welcome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-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PLEASE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USE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ZOOM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CHAT!</a:t>
            </a:r>
            <a:endParaRPr sz="2800">
              <a:latin typeface="Calibri"/>
              <a:cs typeface="Calibri"/>
            </a:endParaRPr>
          </a:p>
          <a:p>
            <a:pPr marL="1143635" lvl="1" indent="-232410">
              <a:lnSpc>
                <a:spcPct val="100000"/>
              </a:lnSpc>
              <a:spcBef>
                <a:spcPts val="700"/>
              </a:spcBef>
              <a:buSzPct val="85714"/>
              <a:buFont typeface="Arial MT"/>
              <a:buChar char="•"/>
              <a:tabLst>
                <a:tab pos="1143635" algn="l"/>
              </a:tabLst>
            </a:pPr>
            <a:r>
              <a:rPr sz="2800" spc="-45" dirty="0">
                <a:latin typeface="Calibri"/>
                <a:cs typeface="Calibri"/>
              </a:rPr>
              <a:t>Tell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early!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871541"/>
            <a:ext cx="12192000" cy="986790"/>
            <a:chOff x="0" y="5871541"/>
            <a:chExt cx="12192000" cy="986790"/>
          </a:xfrm>
        </p:grpSpPr>
        <p:sp>
          <p:nvSpPr>
            <p:cNvPr id="3" name="object 3"/>
            <p:cNvSpPr/>
            <p:nvPr/>
          </p:nvSpPr>
          <p:spPr>
            <a:xfrm>
              <a:off x="0" y="6019800"/>
              <a:ext cx="12192000" cy="838835"/>
            </a:xfrm>
            <a:custGeom>
              <a:avLst/>
              <a:gdLst/>
              <a:ahLst/>
              <a:cxnLst/>
              <a:rect l="l" t="t" r="r" b="b"/>
              <a:pathLst>
                <a:path w="12192000" h="838834">
                  <a:moveTo>
                    <a:pt x="12191999" y="838499"/>
                  </a:moveTo>
                  <a:lnTo>
                    <a:pt x="0" y="8384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838499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0799" y="5871543"/>
              <a:ext cx="2871693" cy="8382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1458" y="98693"/>
            <a:ext cx="22383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latin typeface="Calibri"/>
                <a:cs typeface="Calibri"/>
              </a:rPr>
              <a:t>Extra</a:t>
            </a:r>
            <a:r>
              <a:rPr sz="4400" b="1" spc="-210" dirty="0">
                <a:latin typeface="Calibri"/>
                <a:cs typeface="Calibri"/>
              </a:rPr>
              <a:t> </a:t>
            </a:r>
            <a:r>
              <a:rPr sz="4400" b="1" spc="-20" dirty="0">
                <a:latin typeface="Calibri"/>
                <a:cs typeface="Calibri"/>
              </a:rPr>
              <a:t>info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7418" y="1032599"/>
            <a:ext cx="10783570" cy="3061970"/>
          </a:xfrm>
          <a:prstGeom prst="rect">
            <a:avLst/>
          </a:prstGeom>
        </p:spPr>
        <p:txBody>
          <a:bodyPr vert="horz" wrap="square" lIns="0" tIns="243840" rIns="0" bIns="0" rtlCol="0">
            <a:spAutoFit/>
          </a:bodyPr>
          <a:lstStyle/>
          <a:p>
            <a:pPr marL="445770" indent="-433070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445770" algn="l"/>
              </a:tabLst>
            </a:pPr>
            <a:r>
              <a:rPr sz="2900" dirty="0">
                <a:solidFill>
                  <a:srgbClr val="424242"/>
                </a:solidFill>
                <a:latin typeface="Calibri"/>
                <a:cs typeface="Calibri"/>
              </a:rPr>
              <a:t>Every</a:t>
            </a:r>
            <a:r>
              <a:rPr sz="2900" spc="-6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24242"/>
                </a:solidFill>
                <a:latin typeface="Calibri"/>
                <a:cs typeface="Calibri"/>
              </a:rPr>
              <a:t>class</a:t>
            </a:r>
            <a:r>
              <a:rPr sz="2900" spc="-5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24242"/>
                </a:solidFill>
                <a:latin typeface="Calibri"/>
                <a:cs typeface="Calibri"/>
              </a:rPr>
              <a:t>will</a:t>
            </a:r>
            <a:r>
              <a:rPr sz="2900" spc="-6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24242"/>
                </a:solidFill>
                <a:latin typeface="Calibri"/>
                <a:cs typeface="Calibri"/>
              </a:rPr>
              <a:t>be</a:t>
            </a:r>
            <a:r>
              <a:rPr sz="2900" spc="-5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24242"/>
                </a:solidFill>
                <a:latin typeface="Calibri"/>
                <a:cs typeface="Calibri"/>
              </a:rPr>
              <a:t>recorded</a:t>
            </a:r>
            <a:endParaRPr sz="2900">
              <a:latin typeface="Calibri"/>
              <a:cs typeface="Calibri"/>
            </a:endParaRPr>
          </a:p>
          <a:p>
            <a:pPr marL="446405" marR="5080" indent="-433705">
              <a:lnSpc>
                <a:spcPct val="114999"/>
              </a:lnSpc>
              <a:spcBef>
                <a:spcPts val="1300"/>
              </a:spcBef>
              <a:buFont typeface="Arial MT"/>
              <a:buChar char="•"/>
              <a:tabLst>
                <a:tab pos="446405" algn="l"/>
              </a:tabLst>
            </a:pPr>
            <a:r>
              <a:rPr sz="2900" dirty="0">
                <a:solidFill>
                  <a:srgbClr val="424242"/>
                </a:solidFill>
                <a:latin typeface="Calibri"/>
                <a:cs typeface="Calibri"/>
              </a:rPr>
              <a:t>The</a:t>
            </a:r>
            <a:r>
              <a:rPr sz="2900" spc="-5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24242"/>
                </a:solidFill>
                <a:latin typeface="Calibri"/>
                <a:cs typeface="Calibri"/>
              </a:rPr>
              <a:t>recordings</a:t>
            </a:r>
            <a:r>
              <a:rPr sz="2900" spc="-6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24242"/>
                </a:solidFill>
                <a:latin typeface="Calibri"/>
                <a:cs typeface="Calibri"/>
              </a:rPr>
              <a:t>and</a:t>
            </a:r>
            <a:r>
              <a:rPr sz="2900" spc="-5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24242"/>
                </a:solidFill>
                <a:latin typeface="Calibri"/>
                <a:cs typeface="Calibri"/>
              </a:rPr>
              <a:t>slides</a:t>
            </a:r>
            <a:r>
              <a:rPr sz="2900" spc="-5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24242"/>
                </a:solidFill>
                <a:latin typeface="Calibri"/>
                <a:cs typeface="Calibri"/>
              </a:rPr>
              <a:t>from</a:t>
            </a:r>
            <a:r>
              <a:rPr sz="2900" spc="-5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24242"/>
                </a:solidFill>
                <a:latin typeface="Calibri"/>
                <a:cs typeface="Calibri"/>
              </a:rPr>
              <a:t>each</a:t>
            </a:r>
            <a:r>
              <a:rPr sz="2900" spc="-5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24242"/>
                </a:solidFill>
                <a:latin typeface="Calibri"/>
                <a:cs typeface="Calibri"/>
              </a:rPr>
              <a:t>class</a:t>
            </a:r>
            <a:r>
              <a:rPr sz="2900" spc="-5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24242"/>
                </a:solidFill>
                <a:latin typeface="Calibri"/>
                <a:cs typeface="Calibri"/>
              </a:rPr>
              <a:t>will</a:t>
            </a:r>
            <a:r>
              <a:rPr sz="2900" spc="-5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24242"/>
                </a:solidFill>
                <a:latin typeface="Calibri"/>
                <a:cs typeface="Calibri"/>
              </a:rPr>
              <a:t>be</a:t>
            </a:r>
            <a:r>
              <a:rPr sz="2900" spc="-5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24242"/>
                </a:solidFill>
                <a:latin typeface="Calibri"/>
                <a:cs typeface="Calibri"/>
              </a:rPr>
              <a:t>available</a:t>
            </a:r>
            <a:r>
              <a:rPr sz="2900" spc="-5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24242"/>
                </a:solidFill>
                <a:latin typeface="Calibri"/>
                <a:cs typeface="Calibri"/>
              </a:rPr>
              <a:t>on</a:t>
            </a:r>
            <a:r>
              <a:rPr sz="2900" spc="-5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24242"/>
                </a:solidFill>
                <a:latin typeface="Calibri"/>
                <a:cs typeface="Calibri"/>
              </a:rPr>
              <a:t>Moodle </a:t>
            </a:r>
            <a:r>
              <a:rPr sz="2900" dirty="0">
                <a:solidFill>
                  <a:srgbClr val="424242"/>
                </a:solidFill>
                <a:latin typeface="Calibri"/>
                <a:cs typeface="Calibri"/>
              </a:rPr>
              <a:t>the</a:t>
            </a:r>
            <a:r>
              <a:rPr sz="2900" spc="-5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24242"/>
                </a:solidFill>
                <a:latin typeface="Calibri"/>
                <a:cs typeface="Calibri"/>
              </a:rPr>
              <a:t>day</a:t>
            </a:r>
            <a:r>
              <a:rPr sz="2900" spc="-5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24242"/>
                </a:solidFill>
                <a:latin typeface="Calibri"/>
                <a:cs typeface="Calibri"/>
              </a:rPr>
              <a:t>after</a:t>
            </a:r>
            <a:r>
              <a:rPr sz="2900" spc="-5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24242"/>
                </a:solidFill>
                <a:latin typeface="Calibri"/>
                <a:cs typeface="Calibri"/>
              </a:rPr>
              <a:t>your</a:t>
            </a:r>
            <a:r>
              <a:rPr sz="2900" spc="-5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24242"/>
                </a:solidFill>
                <a:latin typeface="Calibri"/>
                <a:cs typeface="Calibri"/>
              </a:rPr>
              <a:t>class</a:t>
            </a:r>
            <a:endParaRPr sz="2900">
              <a:latin typeface="Calibri"/>
              <a:cs typeface="Calibri"/>
            </a:endParaRPr>
          </a:p>
          <a:p>
            <a:pPr marL="446405" marR="358775" indent="-433705">
              <a:lnSpc>
                <a:spcPct val="114999"/>
              </a:lnSpc>
              <a:spcBef>
                <a:spcPts val="1300"/>
              </a:spcBef>
              <a:buFont typeface="Arial MT"/>
              <a:buChar char="•"/>
              <a:tabLst>
                <a:tab pos="446405" algn="l"/>
              </a:tabLst>
            </a:pPr>
            <a:r>
              <a:rPr sz="2900" dirty="0">
                <a:solidFill>
                  <a:srgbClr val="424242"/>
                </a:solidFill>
                <a:latin typeface="Calibri"/>
                <a:cs typeface="Calibri"/>
              </a:rPr>
              <a:t>If</a:t>
            </a:r>
            <a:r>
              <a:rPr sz="2900" spc="-6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24242"/>
                </a:solidFill>
                <a:latin typeface="Calibri"/>
                <a:cs typeface="Calibri"/>
              </a:rPr>
              <a:t>you</a:t>
            </a:r>
            <a:r>
              <a:rPr sz="2900" spc="-6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24242"/>
                </a:solidFill>
                <a:latin typeface="Calibri"/>
                <a:cs typeface="Calibri"/>
              </a:rPr>
              <a:t>have</a:t>
            </a:r>
            <a:r>
              <a:rPr sz="2900" spc="-6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24242"/>
                </a:solidFill>
                <a:latin typeface="Calibri"/>
                <a:cs typeface="Calibri"/>
              </a:rPr>
              <a:t>any</a:t>
            </a:r>
            <a:r>
              <a:rPr sz="2900" spc="-6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24242"/>
                </a:solidFill>
                <a:latin typeface="Calibri"/>
                <a:cs typeface="Calibri"/>
              </a:rPr>
              <a:t>issues</a:t>
            </a:r>
            <a:r>
              <a:rPr sz="2900" spc="-6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24242"/>
                </a:solidFill>
                <a:latin typeface="Calibri"/>
                <a:cs typeface="Calibri"/>
              </a:rPr>
              <a:t>accessing</a:t>
            </a:r>
            <a:r>
              <a:rPr sz="2900" spc="-6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24242"/>
                </a:solidFill>
                <a:latin typeface="Calibri"/>
                <a:cs typeface="Calibri"/>
              </a:rPr>
              <a:t>the</a:t>
            </a:r>
            <a:r>
              <a:rPr sz="2900" spc="-6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24242"/>
                </a:solidFill>
                <a:latin typeface="Calibri"/>
                <a:cs typeface="Calibri"/>
              </a:rPr>
              <a:t>class</a:t>
            </a:r>
            <a:r>
              <a:rPr sz="2900" spc="-6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24242"/>
                </a:solidFill>
                <a:latin typeface="Calibri"/>
                <a:cs typeface="Calibri"/>
              </a:rPr>
              <a:t>recordings</a:t>
            </a:r>
            <a:r>
              <a:rPr sz="2900" spc="-7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24242"/>
                </a:solidFill>
                <a:latin typeface="Calibri"/>
                <a:cs typeface="Calibri"/>
              </a:rPr>
              <a:t>please</a:t>
            </a:r>
            <a:r>
              <a:rPr sz="2900" spc="-6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24242"/>
                </a:solidFill>
                <a:latin typeface="Calibri"/>
                <a:cs typeface="Calibri"/>
              </a:rPr>
              <a:t>contact </a:t>
            </a:r>
            <a:r>
              <a:rPr sz="2900" dirty="0">
                <a:solidFill>
                  <a:srgbClr val="424242"/>
                </a:solidFill>
                <a:latin typeface="Calibri"/>
                <a:cs typeface="Calibri"/>
              </a:rPr>
              <a:t>myself</a:t>
            </a:r>
            <a:r>
              <a:rPr sz="2900" spc="-7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24242"/>
                </a:solidFill>
                <a:latin typeface="Calibri"/>
                <a:cs typeface="Calibri"/>
              </a:rPr>
              <a:t>or</a:t>
            </a:r>
            <a:r>
              <a:rPr sz="2900" spc="-6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900" b="1" dirty="0">
                <a:latin typeface="Calibri"/>
                <a:cs typeface="Calibri"/>
              </a:rPr>
              <a:t>Ken</a:t>
            </a:r>
            <a:r>
              <a:rPr sz="2900" b="1" spc="-70" dirty="0">
                <a:latin typeface="Calibri"/>
                <a:cs typeface="Calibri"/>
              </a:rPr>
              <a:t> </a:t>
            </a:r>
            <a:r>
              <a:rPr sz="2900" b="1" dirty="0">
                <a:latin typeface="Calibri"/>
                <a:cs typeface="Calibri"/>
              </a:rPr>
              <a:t>Healy</a:t>
            </a:r>
            <a:r>
              <a:rPr sz="2900" dirty="0">
                <a:solidFill>
                  <a:srgbClr val="424242"/>
                </a:solidFill>
                <a:latin typeface="Calibri"/>
                <a:cs typeface="Calibri"/>
              </a:rPr>
              <a:t>:</a:t>
            </a:r>
            <a:r>
              <a:rPr sz="2900" spc="-7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900" b="1" spc="-10" dirty="0">
                <a:solidFill>
                  <a:srgbClr val="0000FF"/>
                </a:solidFill>
                <a:latin typeface="Calibri"/>
                <a:cs typeface="Calibri"/>
                <a:hlinkClick r:id="rId3"/>
              </a:rPr>
              <a:t>khealy@cct.ie</a:t>
            </a:r>
            <a:endParaRPr sz="2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503525"/>
            <a:ext cx="12192000" cy="5354955"/>
            <a:chOff x="0" y="1503525"/>
            <a:chExt cx="12192000" cy="5354955"/>
          </a:xfrm>
        </p:grpSpPr>
        <p:sp>
          <p:nvSpPr>
            <p:cNvPr id="3" name="object 3"/>
            <p:cNvSpPr/>
            <p:nvPr/>
          </p:nvSpPr>
          <p:spPr>
            <a:xfrm>
              <a:off x="0" y="6019800"/>
              <a:ext cx="12192000" cy="838200"/>
            </a:xfrm>
            <a:custGeom>
              <a:avLst/>
              <a:gdLst/>
              <a:ahLst/>
              <a:cxnLst/>
              <a:rect l="l" t="t" r="r" b="b"/>
              <a:pathLst>
                <a:path w="12192000" h="838200">
                  <a:moveTo>
                    <a:pt x="12191999" y="838199"/>
                  </a:moveTo>
                  <a:lnTo>
                    <a:pt x="0" y="8381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838199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0799" y="5871541"/>
              <a:ext cx="2871689" cy="8382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0125" y="1503525"/>
              <a:ext cx="4486274" cy="451484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1172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00"/>
              </a:spcBef>
            </a:pPr>
            <a:r>
              <a:rPr sz="4400" b="1" spc="-10" dirty="0">
                <a:latin typeface="Calibri"/>
                <a:cs typeface="Calibri"/>
              </a:rPr>
              <a:t>What’s</a:t>
            </a:r>
            <a:r>
              <a:rPr sz="4400" b="1" spc="-195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your</a:t>
            </a:r>
            <a:r>
              <a:rPr sz="4400" b="1" spc="-190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interesting</a:t>
            </a:r>
            <a:r>
              <a:rPr sz="4400" b="1" spc="-190" dirty="0">
                <a:latin typeface="Calibri"/>
                <a:cs typeface="Calibri"/>
              </a:rPr>
              <a:t> </a:t>
            </a:r>
            <a:r>
              <a:rPr sz="4400" b="1" spc="-10" dirty="0">
                <a:latin typeface="Calibri"/>
                <a:cs typeface="Calibri"/>
              </a:rPr>
              <a:t>fact?</a:t>
            </a:r>
            <a:endParaRPr sz="4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871543"/>
            <a:ext cx="12192000" cy="986790"/>
            <a:chOff x="0" y="5871543"/>
            <a:chExt cx="12192000" cy="986790"/>
          </a:xfrm>
        </p:grpSpPr>
        <p:sp>
          <p:nvSpPr>
            <p:cNvPr id="3" name="object 3"/>
            <p:cNvSpPr/>
            <p:nvPr/>
          </p:nvSpPr>
          <p:spPr>
            <a:xfrm>
              <a:off x="0" y="6019800"/>
              <a:ext cx="12192000" cy="838835"/>
            </a:xfrm>
            <a:custGeom>
              <a:avLst/>
              <a:gdLst/>
              <a:ahLst/>
              <a:cxnLst/>
              <a:rect l="l" t="t" r="r" b="b"/>
              <a:pathLst>
                <a:path w="12192000" h="838834">
                  <a:moveTo>
                    <a:pt x="12191999" y="838499"/>
                  </a:moveTo>
                  <a:lnTo>
                    <a:pt x="0" y="8384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838499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0799" y="5871543"/>
              <a:ext cx="2871693" cy="8382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92499" y="143240"/>
            <a:ext cx="380174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1" dirty="0">
                <a:solidFill>
                  <a:srgbClr val="4472C4"/>
                </a:solidFill>
                <a:latin typeface="Calibri"/>
                <a:cs typeface="Calibri"/>
              </a:rPr>
              <a:t>Module</a:t>
            </a:r>
            <a:r>
              <a:rPr sz="3400" b="1" spc="-140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3400" b="1" spc="-10" dirty="0">
                <a:solidFill>
                  <a:srgbClr val="4472C4"/>
                </a:solidFill>
                <a:latin typeface="Calibri"/>
                <a:cs typeface="Calibri"/>
              </a:rPr>
              <a:t>Assessments</a:t>
            </a:r>
            <a:endParaRPr sz="3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67875" y="64650"/>
            <a:ext cx="1296199" cy="83346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404450" y="88103"/>
            <a:ext cx="427545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1" dirty="0">
                <a:latin typeface="Calibri"/>
                <a:cs typeface="Calibri"/>
              </a:rPr>
              <a:t>Continuous</a:t>
            </a:r>
            <a:r>
              <a:rPr sz="3400" b="1" spc="-190" dirty="0">
                <a:latin typeface="Calibri"/>
                <a:cs typeface="Calibri"/>
              </a:rPr>
              <a:t> </a:t>
            </a:r>
            <a:r>
              <a:rPr sz="3400" b="1" spc="-10" dirty="0">
                <a:latin typeface="Calibri"/>
                <a:cs typeface="Calibri"/>
              </a:rPr>
              <a:t>Assessment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53EF22-A676-198D-17F7-62816E21D2FD}"/>
              </a:ext>
            </a:extLst>
          </p:cNvPr>
          <p:cNvSpPr txBox="1"/>
          <p:nvPr/>
        </p:nvSpPr>
        <p:spPr>
          <a:xfrm>
            <a:off x="1137684" y="1541720"/>
            <a:ext cx="419631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sz="2800" b="1" dirty="0"/>
              <a:t>CA -1 semester 1  20%</a:t>
            </a:r>
          </a:p>
          <a:p>
            <a:pPr algn="l" rtl="0"/>
            <a:endParaRPr lang="en-US" sz="2800" b="1" dirty="0"/>
          </a:p>
          <a:p>
            <a:pPr algn="l" rtl="0"/>
            <a:r>
              <a:rPr lang="en-US" sz="2800" b="1" dirty="0"/>
              <a:t>CA – 2 semester 1 20%</a:t>
            </a:r>
          </a:p>
          <a:p>
            <a:pPr algn="l" rtl="0"/>
            <a:endParaRPr lang="en-US" sz="2800" b="1" dirty="0"/>
          </a:p>
          <a:p>
            <a:pPr algn="l" rtl="0"/>
            <a:r>
              <a:rPr lang="en-US" sz="2800" b="1" dirty="0"/>
              <a:t>CA -3 semester 2 60%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19535" y="2471976"/>
            <a:ext cx="426339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0" i="1" spc="-220" dirty="0">
                <a:solidFill>
                  <a:srgbClr val="000000"/>
                </a:solidFill>
                <a:latin typeface="Cambria"/>
                <a:cs typeface="Cambria"/>
              </a:rPr>
              <a:t>Questions?</a:t>
            </a:r>
            <a:endParaRPr sz="8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5875" y="179049"/>
            <a:ext cx="40767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solidFill>
                  <a:srgbClr val="4472C4"/>
                </a:solidFill>
                <a:latin typeface="Calibri"/>
                <a:cs typeface="Calibri"/>
              </a:rPr>
              <a:t>What</a:t>
            </a:r>
            <a:r>
              <a:rPr sz="4400" b="1" spc="-80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4400" b="1" dirty="0">
                <a:solidFill>
                  <a:srgbClr val="4472C4"/>
                </a:solidFill>
                <a:latin typeface="Calibri"/>
                <a:cs typeface="Calibri"/>
              </a:rPr>
              <a:t>is</a:t>
            </a:r>
            <a:r>
              <a:rPr sz="4400" b="1" spc="-80" dirty="0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sz="4400" b="1" spc="-10" dirty="0">
                <a:solidFill>
                  <a:srgbClr val="4472C4"/>
                </a:solidFill>
                <a:latin typeface="Calibri"/>
                <a:cs typeface="Calibri"/>
              </a:rPr>
              <a:t>Strategy?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5875" y="1066659"/>
            <a:ext cx="815594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latin typeface="Calibri"/>
                <a:cs typeface="Calibri"/>
              </a:rPr>
              <a:t>“Strategy”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concept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that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comes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originally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from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warfare;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7800" y="1978686"/>
            <a:ext cx="5044224" cy="338257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09535" y="2061696"/>
            <a:ext cx="2834211" cy="345973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3346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latin typeface="Calibri"/>
                <a:cs typeface="Calibri"/>
              </a:rPr>
              <a:t>A</a:t>
            </a:r>
            <a:r>
              <a:rPr sz="4400" b="1" spc="-60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formal</a:t>
            </a:r>
            <a:r>
              <a:rPr sz="4400" b="1" spc="-50" dirty="0">
                <a:latin typeface="Calibri"/>
                <a:cs typeface="Calibri"/>
              </a:rPr>
              <a:t> </a:t>
            </a:r>
            <a:r>
              <a:rPr sz="4400" b="1" spc="-10" dirty="0">
                <a:latin typeface="Calibri"/>
                <a:cs typeface="Calibri"/>
              </a:rPr>
              <a:t>Definition</a:t>
            </a:r>
            <a:r>
              <a:rPr sz="4400" b="1" spc="-10" dirty="0">
                <a:latin typeface="Arial"/>
                <a:cs typeface="Arial"/>
              </a:rPr>
              <a:t>…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9999" y="2088134"/>
            <a:ext cx="10718800" cy="231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detailed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definition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offered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Johnson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&amp;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Scholes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(1993):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60"/>
              </a:spcBef>
            </a:pPr>
            <a:endParaRPr sz="2400">
              <a:latin typeface="Calibri"/>
              <a:cs typeface="Calibri"/>
            </a:endParaRPr>
          </a:p>
          <a:p>
            <a:pPr marL="12700" marR="5080">
              <a:lnSpc>
                <a:spcPts val="2590"/>
              </a:lnSpc>
            </a:pPr>
            <a:r>
              <a:rPr sz="2400" spc="-10" dirty="0">
                <a:latin typeface="Calibri"/>
                <a:cs typeface="Calibri"/>
              </a:rPr>
              <a:t>‘Strategy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direction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scope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organisation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long-</a:t>
            </a:r>
            <a:r>
              <a:rPr sz="2400" dirty="0">
                <a:latin typeface="Calibri"/>
                <a:cs typeface="Calibri"/>
              </a:rPr>
              <a:t>term: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which achieves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advantage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organisation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through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configuration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resources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</a:t>
            </a:r>
            <a:r>
              <a:rPr sz="2400" dirty="0">
                <a:latin typeface="Calibri"/>
                <a:cs typeface="Calibri"/>
              </a:rPr>
              <a:t>challenging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environment,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meet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markets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fulfil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stakeholder expectations’.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38093" y="4972558"/>
            <a:ext cx="55772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Johnson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G.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Scholes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K.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(1993)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Exploring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Corporate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Strategy</a:t>
            </a:r>
            <a:r>
              <a:rPr sz="1400" i="1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(Prentice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Hall)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0445" rIns="0" bIns="0" rtlCol="0">
            <a:spAutoFit/>
          </a:bodyPr>
          <a:lstStyle/>
          <a:p>
            <a:pPr marL="195580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latin typeface="Calibri"/>
                <a:cs typeface="Calibri"/>
              </a:rPr>
              <a:t>Forbes</a:t>
            </a:r>
            <a:r>
              <a:rPr sz="4400" b="1" spc="-110" dirty="0">
                <a:latin typeface="Calibri"/>
                <a:cs typeface="Calibri"/>
              </a:rPr>
              <a:t> </a:t>
            </a:r>
            <a:r>
              <a:rPr sz="4400" b="1" spc="-20" dirty="0">
                <a:latin typeface="Calibri"/>
                <a:cs typeface="Calibri"/>
              </a:rPr>
              <a:t>says</a:t>
            </a:r>
            <a:r>
              <a:rPr sz="4400" b="1" spc="-20" dirty="0">
                <a:latin typeface="Arial"/>
                <a:cs typeface="Arial"/>
              </a:rPr>
              <a:t>…</a:t>
            </a:r>
            <a:endParaRPr sz="4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7025" y="890125"/>
            <a:ext cx="10971200" cy="44528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0850" y="2609642"/>
            <a:ext cx="10538460" cy="95250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0"/>
              </a:spcBef>
            </a:pPr>
            <a:r>
              <a:rPr sz="3200" dirty="0">
                <a:latin typeface="Georgia"/>
                <a:cs typeface="Georgia"/>
              </a:rPr>
              <a:t>“A</a:t>
            </a:r>
            <a:r>
              <a:rPr sz="3200" spc="-55" dirty="0">
                <a:latin typeface="Georgia"/>
                <a:cs typeface="Georgia"/>
              </a:rPr>
              <a:t> </a:t>
            </a:r>
            <a:r>
              <a:rPr sz="3200" dirty="0">
                <a:latin typeface="Georgia"/>
                <a:cs typeface="Georgia"/>
              </a:rPr>
              <a:t>strategy</a:t>
            </a:r>
            <a:r>
              <a:rPr sz="3200" spc="-55" dirty="0">
                <a:latin typeface="Georgia"/>
                <a:cs typeface="Georgia"/>
              </a:rPr>
              <a:t> </a:t>
            </a:r>
            <a:r>
              <a:rPr sz="3200" dirty="0">
                <a:latin typeface="Georgia"/>
                <a:cs typeface="Georgia"/>
              </a:rPr>
              <a:t>is</a:t>
            </a:r>
            <a:r>
              <a:rPr sz="3200" spc="-50" dirty="0">
                <a:latin typeface="Georgia"/>
                <a:cs typeface="Georgia"/>
              </a:rPr>
              <a:t> </a:t>
            </a:r>
            <a:r>
              <a:rPr sz="3200" dirty="0">
                <a:latin typeface="Georgia"/>
                <a:cs typeface="Georgia"/>
              </a:rPr>
              <a:t>a</a:t>
            </a:r>
            <a:r>
              <a:rPr sz="3200" spc="-55" dirty="0">
                <a:latin typeface="Georgia"/>
                <a:cs typeface="Georgia"/>
              </a:rPr>
              <a:t> </a:t>
            </a:r>
            <a:r>
              <a:rPr sz="3200" spc="-10" dirty="0">
                <a:latin typeface="Georgia"/>
                <a:cs typeface="Georgia"/>
              </a:rPr>
              <a:t>framework</a:t>
            </a:r>
            <a:r>
              <a:rPr sz="3200" spc="-55" dirty="0">
                <a:latin typeface="Georgia"/>
                <a:cs typeface="Georgia"/>
              </a:rPr>
              <a:t> </a:t>
            </a:r>
            <a:r>
              <a:rPr sz="3200" dirty="0">
                <a:latin typeface="Georgia"/>
                <a:cs typeface="Georgia"/>
              </a:rPr>
              <a:t>for</a:t>
            </a:r>
            <a:r>
              <a:rPr sz="3200" spc="-50" dirty="0">
                <a:latin typeface="Georgia"/>
                <a:cs typeface="Georgia"/>
              </a:rPr>
              <a:t> </a:t>
            </a:r>
            <a:r>
              <a:rPr sz="3200" dirty="0">
                <a:latin typeface="Georgia"/>
                <a:cs typeface="Georgia"/>
              </a:rPr>
              <a:t>making</a:t>
            </a:r>
            <a:r>
              <a:rPr sz="3200" spc="-55" dirty="0">
                <a:latin typeface="Georgia"/>
                <a:cs typeface="Georgia"/>
              </a:rPr>
              <a:t> </a:t>
            </a:r>
            <a:r>
              <a:rPr sz="3200" dirty="0">
                <a:latin typeface="Georgia"/>
                <a:cs typeface="Georgia"/>
              </a:rPr>
              <a:t>decisions</a:t>
            </a:r>
            <a:r>
              <a:rPr sz="3200" spc="-55" dirty="0">
                <a:latin typeface="Georgia"/>
                <a:cs typeface="Georgia"/>
              </a:rPr>
              <a:t> </a:t>
            </a:r>
            <a:r>
              <a:rPr sz="3200" dirty="0">
                <a:latin typeface="Georgia"/>
                <a:cs typeface="Georgia"/>
              </a:rPr>
              <a:t>about</a:t>
            </a:r>
            <a:r>
              <a:rPr sz="3200" spc="-50" dirty="0">
                <a:latin typeface="Georgia"/>
                <a:cs typeface="Georgia"/>
              </a:rPr>
              <a:t> </a:t>
            </a:r>
            <a:r>
              <a:rPr sz="3200" spc="-25" dirty="0">
                <a:latin typeface="Georgia"/>
                <a:cs typeface="Georgia"/>
              </a:rPr>
              <a:t>how </a:t>
            </a:r>
            <a:r>
              <a:rPr sz="3200" dirty="0">
                <a:latin typeface="Georgia"/>
                <a:cs typeface="Georgia"/>
              </a:rPr>
              <a:t>you</a:t>
            </a:r>
            <a:r>
              <a:rPr sz="3200" spc="-60" dirty="0">
                <a:latin typeface="Georgia"/>
                <a:cs typeface="Georgia"/>
              </a:rPr>
              <a:t> </a:t>
            </a:r>
            <a:r>
              <a:rPr sz="3200" dirty="0">
                <a:latin typeface="Georgia"/>
                <a:cs typeface="Georgia"/>
              </a:rPr>
              <a:t>will</a:t>
            </a:r>
            <a:r>
              <a:rPr sz="3200" spc="-60" dirty="0">
                <a:latin typeface="Georgia"/>
                <a:cs typeface="Georgia"/>
              </a:rPr>
              <a:t> </a:t>
            </a:r>
            <a:r>
              <a:rPr sz="3200" dirty="0">
                <a:latin typeface="Georgia"/>
                <a:cs typeface="Georgia"/>
              </a:rPr>
              <a:t>play</a:t>
            </a:r>
            <a:r>
              <a:rPr sz="3200" spc="-60" dirty="0">
                <a:latin typeface="Georgia"/>
                <a:cs typeface="Georgia"/>
              </a:rPr>
              <a:t> </a:t>
            </a:r>
            <a:r>
              <a:rPr sz="3200" dirty="0">
                <a:latin typeface="Georgia"/>
                <a:cs typeface="Georgia"/>
              </a:rPr>
              <a:t>the</a:t>
            </a:r>
            <a:r>
              <a:rPr sz="3200" spc="-60" dirty="0">
                <a:latin typeface="Georgia"/>
                <a:cs typeface="Georgia"/>
              </a:rPr>
              <a:t> </a:t>
            </a:r>
            <a:r>
              <a:rPr sz="3200" dirty="0">
                <a:latin typeface="Georgia"/>
                <a:cs typeface="Georgia"/>
              </a:rPr>
              <a:t>game</a:t>
            </a:r>
            <a:r>
              <a:rPr sz="3200" spc="-60" dirty="0">
                <a:latin typeface="Georgia"/>
                <a:cs typeface="Georgia"/>
              </a:rPr>
              <a:t> </a:t>
            </a:r>
            <a:r>
              <a:rPr sz="3200" dirty="0">
                <a:latin typeface="Georgia"/>
                <a:cs typeface="Georgia"/>
              </a:rPr>
              <a:t>of</a:t>
            </a:r>
            <a:r>
              <a:rPr sz="3200" spc="-55" dirty="0">
                <a:latin typeface="Georgia"/>
                <a:cs typeface="Georgia"/>
              </a:rPr>
              <a:t> </a:t>
            </a:r>
            <a:r>
              <a:rPr sz="3200" dirty="0">
                <a:latin typeface="Georgia"/>
                <a:cs typeface="Georgia"/>
              </a:rPr>
              <a:t>business”</a:t>
            </a:r>
            <a:r>
              <a:rPr sz="3200" spc="-4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(Latham,</a:t>
            </a:r>
            <a:r>
              <a:rPr sz="2000" spc="-4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A.,</a:t>
            </a:r>
            <a:r>
              <a:rPr sz="2000" spc="-40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2017)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15052" y="4966490"/>
            <a:ext cx="60248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  <a:hlinkClick r:id="rId3"/>
              </a:rPr>
              <a:t>https://www.forbes.com/sites/annlatham/2017/10/29/what-</a:t>
            </a:r>
            <a:r>
              <a:rPr sz="1200" dirty="0">
                <a:latin typeface="Arial MT"/>
                <a:cs typeface="Arial MT"/>
                <a:hlinkClick r:id="rId3"/>
              </a:rPr>
              <a:t>the-heck-is-a-strategy-</a:t>
            </a:r>
            <a:r>
              <a:rPr sz="1200" spc="-10" dirty="0">
                <a:latin typeface="Arial MT"/>
                <a:cs typeface="Arial MT"/>
                <a:hlinkClick r:id="rId3"/>
              </a:rPr>
              <a:t>anyway</a:t>
            </a:r>
            <a:r>
              <a:rPr sz="1500" spc="-10" dirty="0">
                <a:latin typeface="Arial MT"/>
                <a:cs typeface="Arial MT"/>
                <a:hlinkClick r:id="rId3"/>
              </a:rPr>
              <a:t>/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14549"/>
            <a:ext cx="12192000" cy="5843905"/>
            <a:chOff x="0" y="1014549"/>
            <a:chExt cx="12192000" cy="5843905"/>
          </a:xfrm>
        </p:grpSpPr>
        <p:sp>
          <p:nvSpPr>
            <p:cNvPr id="3" name="object 3"/>
            <p:cNvSpPr/>
            <p:nvPr/>
          </p:nvSpPr>
          <p:spPr>
            <a:xfrm>
              <a:off x="0" y="6019799"/>
              <a:ext cx="12192000" cy="838200"/>
            </a:xfrm>
            <a:custGeom>
              <a:avLst/>
              <a:gdLst/>
              <a:ahLst/>
              <a:cxnLst/>
              <a:rect l="l" t="t" r="r" b="b"/>
              <a:pathLst>
                <a:path w="12192000" h="838200">
                  <a:moveTo>
                    <a:pt x="12191999" y="838199"/>
                  </a:moveTo>
                  <a:lnTo>
                    <a:pt x="0" y="8381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838199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0799" y="5871541"/>
              <a:ext cx="2871689" cy="8382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4151" y="1090094"/>
              <a:ext cx="6343700" cy="47831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74951" y="1140894"/>
              <a:ext cx="6242099" cy="46814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39975" y="1014549"/>
              <a:ext cx="7312051" cy="4934199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0546" rIns="0" bIns="0" rtlCol="0">
            <a:spAutoFit/>
          </a:bodyPr>
          <a:lstStyle/>
          <a:p>
            <a:pPr marL="254000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latin typeface="Calibri"/>
                <a:cs typeface="Calibri"/>
              </a:rPr>
              <a:t>Plan</a:t>
            </a:r>
            <a:r>
              <a:rPr sz="4400" b="1" spc="-30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vs</a:t>
            </a:r>
            <a:r>
              <a:rPr sz="4400" b="1" spc="-30" dirty="0">
                <a:latin typeface="Calibri"/>
                <a:cs typeface="Calibri"/>
              </a:rPr>
              <a:t> </a:t>
            </a:r>
            <a:r>
              <a:rPr sz="4400" b="1" spc="-20" dirty="0">
                <a:latin typeface="Calibri"/>
                <a:cs typeface="Calibri"/>
              </a:rPr>
              <a:t>Strategy</a:t>
            </a:r>
            <a:r>
              <a:rPr sz="4400" b="1" spc="-20" dirty="0">
                <a:latin typeface="Arial"/>
                <a:cs typeface="Arial"/>
              </a:rPr>
              <a:t>…</a:t>
            </a:r>
            <a:r>
              <a:rPr sz="4400" b="1" spc="-20" dirty="0">
                <a:latin typeface="Calibri"/>
                <a:cs typeface="Calibri"/>
              </a:rPr>
              <a:t>?</a:t>
            </a:r>
            <a:endParaRPr sz="4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3720" rIns="0" bIns="0" rtlCol="0">
            <a:spAutoFit/>
          </a:bodyPr>
          <a:lstStyle/>
          <a:p>
            <a:pPr marL="389255">
              <a:lnSpc>
                <a:spcPct val="100000"/>
              </a:lnSpc>
              <a:spcBef>
                <a:spcPts val="100"/>
              </a:spcBef>
            </a:pPr>
            <a:r>
              <a:rPr sz="4400" b="1" spc="-10" dirty="0">
                <a:latin typeface="Calibri"/>
                <a:cs typeface="Calibri"/>
              </a:rPr>
              <a:t>Strategy</a:t>
            </a:r>
            <a:r>
              <a:rPr sz="4400" b="1" spc="-70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/</a:t>
            </a:r>
            <a:r>
              <a:rPr sz="4400" b="1" spc="-65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Plan</a:t>
            </a:r>
            <a:r>
              <a:rPr sz="4400" b="1" spc="-65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/</a:t>
            </a:r>
            <a:r>
              <a:rPr sz="4400" b="1" spc="-65" dirty="0">
                <a:latin typeface="Calibri"/>
                <a:cs typeface="Calibri"/>
              </a:rPr>
              <a:t> </a:t>
            </a:r>
            <a:r>
              <a:rPr sz="4400" b="1" spc="-20" dirty="0">
                <a:latin typeface="Calibri"/>
                <a:cs typeface="Calibri"/>
              </a:rPr>
              <a:t>Goal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61575" y="1724798"/>
            <a:ext cx="40652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Goal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want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61575" y="3123830"/>
            <a:ext cx="53803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Calibri"/>
                <a:cs typeface="Calibri"/>
              </a:rPr>
              <a:t>Strategy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General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idea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how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there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61575" y="4522862"/>
            <a:ext cx="85331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Plan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How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implement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strategy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reality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/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specific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detail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4775" y="1381899"/>
            <a:ext cx="1082575" cy="10825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5712" y="2792588"/>
            <a:ext cx="1160700" cy="11607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11624" y="4190974"/>
            <a:ext cx="1132674" cy="113267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5875" y="82249"/>
            <a:ext cx="25533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10" dirty="0">
                <a:latin typeface="Calibri"/>
                <a:cs typeface="Calibri"/>
              </a:rPr>
              <a:t>Example</a:t>
            </a:r>
            <a:r>
              <a:rPr sz="4400" b="1" spc="-10" dirty="0">
                <a:latin typeface="Arial"/>
                <a:cs typeface="Arial"/>
              </a:rPr>
              <a:t>…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00300" y="1084992"/>
            <a:ext cx="8677275" cy="1250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Goal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‘I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want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achieve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Diploma!”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1355725" algn="l"/>
              </a:tabLst>
            </a:pPr>
            <a:r>
              <a:rPr sz="2400" b="1" spc="-20" dirty="0">
                <a:latin typeface="Calibri"/>
                <a:cs typeface="Calibri"/>
              </a:rPr>
              <a:t>Strategy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-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0" dirty="0">
                <a:latin typeface="Calibri"/>
                <a:cs typeface="Calibri"/>
              </a:rPr>
              <a:t>Attend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classes,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time-</a:t>
            </a:r>
            <a:r>
              <a:rPr sz="2400" dirty="0">
                <a:latin typeface="Calibri"/>
                <a:cs typeface="Calibri"/>
              </a:rPr>
              <a:t>manage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assignments,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study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effectively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00300" y="2804064"/>
            <a:ext cx="739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Plan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-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26873" y="2740056"/>
            <a:ext cx="4528185" cy="303403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spc="-10" dirty="0">
                <a:latin typeface="Calibri"/>
                <a:cs typeface="Calibri"/>
              </a:rPr>
              <a:t>Attend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all</a:t>
            </a:r>
            <a:r>
              <a:rPr sz="2400" b="1" u="heavy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classes</a:t>
            </a:r>
            <a:endParaRPr sz="2400">
              <a:latin typeface="Calibri"/>
              <a:cs typeface="Calibri"/>
            </a:endParaRPr>
          </a:p>
          <a:p>
            <a:pPr marL="57150" marR="280670">
              <a:lnSpc>
                <a:spcPct val="117500"/>
              </a:lnSpc>
            </a:pPr>
            <a:r>
              <a:rPr sz="2400" dirty="0">
                <a:latin typeface="Calibri"/>
                <a:cs typeface="Calibri"/>
              </a:rPr>
              <a:t>Get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proper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focus </a:t>
            </a:r>
            <a:r>
              <a:rPr sz="2400" dirty="0">
                <a:latin typeface="Calibri"/>
                <a:cs typeface="Calibri"/>
              </a:rPr>
              <a:t>Analyse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assignments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issued </a:t>
            </a:r>
            <a:r>
              <a:rPr sz="2400" dirty="0">
                <a:latin typeface="Calibri"/>
                <a:cs typeface="Calibri"/>
              </a:rPr>
              <a:t>Prioritise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tasks</a:t>
            </a:r>
            <a:endParaRPr sz="2400">
              <a:latin typeface="Calibri"/>
              <a:cs typeface="Calibri"/>
            </a:endParaRPr>
          </a:p>
          <a:p>
            <a:pPr marL="57150">
              <a:lnSpc>
                <a:spcPct val="100000"/>
              </a:lnSpc>
              <a:spcBef>
                <a:spcPts val="505"/>
              </a:spcBef>
            </a:pPr>
            <a:r>
              <a:rPr sz="2400" dirty="0">
                <a:latin typeface="Calibri"/>
                <a:cs typeface="Calibri"/>
              </a:rPr>
              <a:t>Allocate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&amp;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resources</a:t>
            </a:r>
            <a:endParaRPr sz="2400">
              <a:latin typeface="Calibri"/>
              <a:cs typeface="Calibri"/>
            </a:endParaRPr>
          </a:p>
          <a:p>
            <a:pPr marL="57150" marR="5080">
              <a:lnSpc>
                <a:spcPct val="117500"/>
              </a:lnSpc>
            </a:pPr>
            <a:r>
              <a:rPr sz="2400" dirty="0">
                <a:latin typeface="Calibri"/>
                <a:cs typeface="Calibri"/>
              </a:rPr>
              <a:t>Contact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library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research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tips </a:t>
            </a:r>
            <a:r>
              <a:rPr sz="2400" dirty="0">
                <a:latin typeface="Calibri"/>
                <a:cs typeface="Calibri"/>
              </a:rPr>
              <a:t>Identify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good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resources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6950" y="921574"/>
            <a:ext cx="779024" cy="7790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16945" y="1857500"/>
            <a:ext cx="779024" cy="7790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16950" y="2904374"/>
            <a:ext cx="779024" cy="77902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4320" rIns="0" bIns="0" rtlCol="0">
            <a:spAutoFit/>
          </a:bodyPr>
          <a:lstStyle/>
          <a:p>
            <a:pPr marL="273050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latin typeface="Calibri"/>
                <a:cs typeface="Calibri"/>
              </a:rPr>
              <a:t>What</a:t>
            </a:r>
            <a:r>
              <a:rPr sz="4400" b="1" spc="-90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Business</a:t>
            </a:r>
            <a:r>
              <a:rPr sz="4400" b="1" spc="-85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wants</a:t>
            </a:r>
            <a:r>
              <a:rPr sz="4400" b="1" spc="-85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from</a:t>
            </a:r>
            <a:r>
              <a:rPr sz="4400" b="1" spc="-90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a</a:t>
            </a:r>
            <a:r>
              <a:rPr sz="4400" b="1" spc="-85" dirty="0">
                <a:latin typeface="Calibri"/>
                <a:cs typeface="Calibri"/>
              </a:rPr>
              <a:t> </a:t>
            </a:r>
            <a:r>
              <a:rPr sz="4400" b="1" spc="-10" dirty="0">
                <a:latin typeface="Calibri"/>
                <a:cs typeface="Calibri"/>
              </a:rPr>
              <a:t>Strategy</a:t>
            </a:r>
            <a:r>
              <a:rPr sz="4400" b="1" spc="-10" dirty="0">
                <a:latin typeface="Arial"/>
                <a:cs typeface="Arial"/>
              </a:rPr>
              <a:t>…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4975" y="2346147"/>
            <a:ext cx="11008360" cy="21196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dirty="0">
                <a:latin typeface="Calibri"/>
                <a:cs typeface="Calibri"/>
              </a:rPr>
              <a:t>When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organisation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invests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new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technology,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decides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new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strategy,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do </a:t>
            </a:r>
            <a:r>
              <a:rPr sz="2400" dirty="0">
                <a:latin typeface="Calibri"/>
                <a:cs typeface="Calibri"/>
              </a:rPr>
              <a:t>they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want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result?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00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2770505" algn="l"/>
              </a:tabLst>
            </a:pPr>
            <a:r>
              <a:rPr sz="2400" b="1" dirty="0">
                <a:latin typeface="Calibri"/>
                <a:cs typeface="Calibri"/>
              </a:rPr>
              <a:t>POSITIVE</a:t>
            </a:r>
            <a:r>
              <a:rPr sz="2400" b="1" spc="-13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RESULTS!!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example,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“Return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Investment”</a:t>
            </a:r>
            <a:endParaRPr sz="2400">
              <a:latin typeface="Calibri"/>
              <a:cs typeface="Calibri"/>
            </a:endParaRPr>
          </a:p>
          <a:p>
            <a:pPr marL="755015" indent="-240029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755015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English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“How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much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this?”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/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“What’s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profit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here?”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9270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latin typeface="Calibri"/>
                <a:cs typeface="Calibri"/>
              </a:rPr>
              <a:t>Business</a:t>
            </a:r>
            <a:r>
              <a:rPr sz="4400" b="1" spc="-40" dirty="0">
                <a:latin typeface="Calibri"/>
                <a:cs typeface="Calibri"/>
              </a:rPr>
              <a:t> </a:t>
            </a:r>
            <a:r>
              <a:rPr sz="4400" b="1" spc="-10" dirty="0">
                <a:latin typeface="Calibri"/>
                <a:cs typeface="Calibri"/>
              </a:rPr>
              <a:t>Measures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4175" y="2285810"/>
            <a:ext cx="9891395" cy="1572260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12700" marR="5080">
              <a:lnSpc>
                <a:spcPts val="2700"/>
              </a:lnSpc>
              <a:spcBef>
                <a:spcPts val="439"/>
              </a:spcBef>
            </a:pPr>
            <a:r>
              <a:rPr sz="2500" dirty="0">
                <a:latin typeface="Calibri"/>
                <a:cs typeface="Calibri"/>
              </a:rPr>
              <a:t>An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organisation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will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often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(if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not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always)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use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range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financial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measures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to </a:t>
            </a:r>
            <a:r>
              <a:rPr sz="2500" dirty="0">
                <a:latin typeface="Calibri"/>
                <a:cs typeface="Calibri"/>
              </a:rPr>
              <a:t>gauge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success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investment</a:t>
            </a:r>
            <a:endParaRPr sz="2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2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500" dirty="0">
                <a:latin typeface="Calibri"/>
                <a:cs typeface="Calibri"/>
              </a:rPr>
              <a:t>AND/OR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–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to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decide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whether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to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invest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in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first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place!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8271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latin typeface="Calibri"/>
                <a:cs typeface="Calibri"/>
              </a:rPr>
              <a:t>Business</a:t>
            </a:r>
            <a:r>
              <a:rPr sz="4400" b="1" spc="-40" dirty="0">
                <a:latin typeface="Calibri"/>
                <a:cs typeface="Calibri"/>
              </a:rPr>
              <a:t> </a:t>
            </a:r>
            <a:r>
              <a:rPr sz="4400" b="1" spc="-10" dirty="0">
                <a:latin typeface="Calibri"/>
                <a:cs typeface="Calibri"/>
              </a:rPr>
              <a:t>Measures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6925" y="1309756"/>
            <a:ext cx="10563225" cy="3518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Some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Financial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measurements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organisations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are: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30"/>
              </a:spcBef>
            </a:pPr>
            <a:endParaRPr sz="2400">
              <a:latin typeface="Calibri"/>
              <a:cs typeface="Calibri"/>
            </a:endParaRPr>
          </a:p>
          <a:p>
            <a:pPr marL="755015" indent="-240029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755015" algn="l"/>
              </a:tabLst>
            </a:pPr>
            <a:r>
              <a:rPr sz="2400" dirty="0">
                <a:latin typeface="Calibri"/>
                <a:cs typeface="Calibri"/>
              </a:rPr>
              <a:t>“Cost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Benefit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Analysis”</a:t>
            </a:r>
            <a:endParaRPr sz="2400">
              <a:latin typeface="Calibri"/>
              <a:cs typeface="Calibri"/>
            </a:endParaRPr>
          </a:p>
          <a:p>
            <a:pPr marL="755015" indent="-240029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755015" algn="l"/>
              </a:tabLst>
            </a:pPr>
            <a:r>
              <a:rPr sz="2400" dirty="0">
                <a:latin typeface="Calibri"/>
                <a:cs typeface="Calibri"/>
              </a:rPr>
              <a:t>“Return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Investment”</a:t>
            </a:r>
            <a:endParaRPr sz="2400">
              <a:latin typeface="Calibri"/>
              <a:cs typeface="Calibri"/>
            </a:endParaRPr>
          </a:p>
          <a:p>
            <a:pPr marL="755015" indent="-240029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755015" algn="l"/>
              </a:tabLst>
            </a:pPr>
            <a:r>
              <a:rPr sz="2400" spc="-35" dirty="0">
                <a:latin typeface="Calibri"/>
                <a:cs typeface="Calibri"/>
              </a:rPr>
              <a:t>“Break-</a:t>
            </a:r>
            <a:r>
              <a:rPr sz="2400" dirty="0">
                <a:latin typeface="Calibri"/>
                <a:cs typeface="Calibri"/>
              </a:rPr>
              <a:t>even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Analysis”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64"/>
              </a:spcBef>
            </a:pPr>
            <a:endParaRPr sz="2400">
              <a:latin typeface="Calibri"/>
              <a:cs typeface="Calibri"/>
            </a:endParaRPr>
          </a:p>
          <a:p>
            <a:pPr marL="254000" marR="5080">
              <a:lnSpc>
                <a:spcPts val="2590"/>
              </a:lnSpc>
            </a:pPr>
            <a:r>
              <a:rPr sz="2400" dirty="0">
                <a:latin typeface="Calibri"/>
                <a:cs typeface="Calibri"/>
              </a:rPr>
              <a:t>Good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News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Finance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module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learn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Financial formulae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4675" y="4471730"/>
            <a:ext cx="379511" cy="35718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871541"/>
            <a:ext cx="12192000" cy="986790"/>
            <a:chOff x="0" y="5871541"/>
            <a:chExt cx="12192000" cy="986790"/>
          </a:xfrm>
        </p:grpSpPr>
        <p:sp>
          <p:nvSpPr>
            <p:cNvPr id="3" name="object 3"/>
            <p:cNvSpPr/>
            <p:nvPr/>
          </p:nvSpPr>
          <p:spPr>
            <a:xfrm>
              <a:off x="0" y="6019800"/>
              <a:ext cx="12192000" cy="838200"/>
            </a:xfrm>
            <a:custGeom>
              <a:avLst/>
              <a:gdLst/>
              <a:ahLst/>
              <a:cxnLst/>
              <a:rect l="l" t="t" r="r" b="b"/>
              <a:pathLst>
                <a:path w="12192000" h="838200">
                  <a:moveTo>
                    <a:pt x="12191999" y="838199"/>
                  </a:moveTo>
                  <a:lnTo>
                    <a:pt x="0" y="8381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838199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0799" y="5871541"/>
              <a:ext cx="2871689" cy="8382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9671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100"/>
              </a:spcBef>
            </a:pPr>
            <a:r>
              <a:rPr sz="4400" b="1" spc="-20" dirty="0">
                <a:latin typeface="Calibri"/>
                <a:cs typeface="Calibri"/>
              </a:rPr>
              <a:t>Breakeven</a:t>
            </a:r>
            <a:r>
              <a:rPr sz="4400" b="1" spc="-60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–</a:t>
            </a:r>
            <a:r>
              <a:rPr sz="4400" b="1" spc="-55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Finance</a:t>
            </a:r>
            <a:r>
              <a:rPr sz="4400" b="1" spc="-55" dirty="0">
                <a:latin typeface="Calibri"/>
                <a:cs typeface="Calibri"/>
              </a:rPr>
              <a:t> </a:t>
            </a:r>
            <a:r>
              <a:rPr sz="4400" b="1" dirty="0">
                <a:latin typeface="Calibri"/>
                <a:cs typeface="Calibri"/>
              </a:rPr>
              <a:t>&amp;</a:t>
            </a:r>
            <a:r>
              <a:rPr sz="4400" b="1" spc="-55" dirty="0">
                <a:latin typeface="Calibri"/>
                <a:cs typeface="Calibri"/>
              </a:rPr>
              <a:t> </a:t>
            </a:r>
            <a:r>
              <a:rPr sz="4400" b="1" spc="-10" dirty="0">
                <a:latin typeface="Calibri"/>
                <a:cs typeface="Calibri"/>
              </a:rPr>
              <a:t>Strategy</a:t>
            </a:r>
            <a:endParaRPr sz="44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844955" y="1283142"/>
            <a:ext cx="6502400" cy="4379595"/>
            <a:chOff x="2844955" y="1283142"/>
            <a:chExt cx="6502400" cy="437959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44955" y="1283142"/>
              <a:ext cx="6502100" cy="4379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95755" y="1333942"/>
              <a:ext cx="6400499" cy="42773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19535" y="2471976"/>
            <a:ext cx="426339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0" i="1" spc="-220" dirty="0">
                <a:solidFill>
                  <a:srgbClr val="000000"/>
                </a:solidFill>
                <a:latin typeface="Cambria"/>
                <a:cs typeface="Cambria"/>
              </a:rPr>
              <a:t>Questions?</a:t>
            </a:r>
            <a:endParaRPr sz="8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Use</a:t>
            </a:r>
            <a:r>
              <a:rPr sz="4400" spc="-85" dirty="0"/>
              <a:t> </a:t>
            </a:r>
            <a:r>
              <a:rPr sz="4400" dirty="0"/>
              <a:t>of</a:t>
            </a:r>
            <a:r>
              <a:rPr sz="4400" spc="-85" dirty="0"/>
              <a:t> </a:t>
            </a:r>
            <a:r>
              <a:rPr sz="4400" dirty="0"/>
              <a:t>IT</a:t>
            </a:r>
            <a:r>
              <a:rPr sz="4400" spc="-85" dirty="0"/>
              <a:t> </a:t>
            </a:r>
            <a:r>
              <a:rPr sz="4400" dirty="0"/>
              <a:t>for</a:t>
            </a:r>
            <a:r>
              <a:rPr sz="4400" spc="-80" dirty="0"/>
              <a:t> </a:t>
            </a:r>
            <a:r>
              <a:rPr sz="4400" dirty="0"/>
              <a:t>a</a:t>
            </a:r>
            <a:r>
              <a:rPr sz="4400" spc="-85" dirty="0"/>
              <a:t> </a:t>
            </a:r>
            <a:r>
              <a:rPr sz="4400" spc="-10" dirty="0"/>
              <a:t>Competitive</a:t>
            </a:r>
            <a:r>
              <a:rPr sz="4400" spc="-85" dirty="0"/>
              <a:t> </a:t>
            </a:r>
            <a:r>
              <a:rPr sz="4400" spc="-10" dirty="0"/>
              <a:t>Advantage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8049" y="1323825"/>
            <a:ext cx="1997775" cy="364209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625675" y="2112326"/>
            <a:ext cx="601599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what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ways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companies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help </a:t>
            </a:r>
            <a:r>
              <a:rPr sz="2800" dirty="0">
                <a:latin typeface="Calibri"/>
                <a:cs typeface="Calibri"/>
              </a:rPr>
              <a:t>gain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competitive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advantage?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650" y="80503"/>
            <a:ext cx="40544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Example</a:t>
            </a:r>
            <a:r>
              <a:rPr sz="4400" spc="-120" dirty="0"/>
              <a:t> </a:t>
            </a:r>
            <a:r>
              <a:rPr sz="4400" dirty="0"/>
              <a:t>-</a:t>
            </a:r>
            <a:r>
              <a:rPr sz="4400" spc="-120" dirty="0"/>
              <a:t> </a:t>
            </a:r>
            <a:r>
              <a:rPr sz="4400" spc="-10" dirty="0"/>
              <a:t>Ryanair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317100" y="1056167"/>
            <a:ext cx="10084435" cy="294640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469265" indent="-308610">
              <a:lnSpc>
                <a:spcPct val="100000"/>
              </a:lnSpc>
              <a:spcBef>
                <a:spcPts val="605"/>
              </a:spcBef>
              <a:buSzPct val="64285"/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latin typeface="Calibri"/>
                <a:cs typeface="Calibri"/>
              </a:rPr>
              <a:t>Air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Travel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expensive</a:t>
            </a:r>
            <a:endParaRPr sz="2800">
              <a:latin typeface="Calibri"/>
              <a:cs typeface="Calibri"/>
            </a:endParaRPr>
          </a:p>
          <a:p>
            <a:pPr marL="469265" indent="-308610">
              <a:lnSpc>
                <a:spcPct val="100000"/>
              </a:lnSpc>
              <a:spcBef>
                <a:spcPts val="500"/>
              </a:spcBef>
              <a:buSzPct val="64285"/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latin typeface="Calibri"/>
                <a:cs typeface="Calibri"/>
              </a:rPr>
              <a:t>Existing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competitors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-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high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brand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awareness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&amp;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market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dominance</a:t>
            </a:r>
            <a:endParaRPr sz="2800">
              <a:latin typeface="Calibri"/>
              <a:cs typeface="Calibri"/>
            </a:endParaRPr>
          </a:p>
          <a:p>
            <a:pPr marL="469900" marR="5080" indent="-309245">
              <a:lnSpc>
                <a:spcPct val="114999"/>
              </a:lnSpc>
              <a:buSzPct val="64285"/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Holiday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makers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booked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through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Travel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Agents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were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‘linked’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 </a:t>
            </a:r>
            <a:r>
              <a:rPr sz="2800" dirty="0">
                <a:latin typeface="Calibri"/>
                <a:cs typeface="Calibri"/>
              </a:rPr>
              <a:t>specific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airlines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b="1" dirty="0">
                <a:latin typeface="Calibri"/>
                <a:cs typeface="Calibri"/>
              </a:rPr>
              <a:t>How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did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Ryanair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use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IT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to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gain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competitive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advantage?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78875" y="103924"/>
            <a:ext cx="3828549" cy="138004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958175" y="3809994"/>
            <a:ext cx="7064375" cy="2211070"/>
            <a:chOff x="4958175" y="3809994"/>
            <a:chExt cx="7064375" cy="221107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77695" y="3809994"/>
              <a:ext cx="2944699" cy="20688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8175" y="4203925"/>
              <a:ext cx="3296210" cy="18170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7775" y="4158700"/>
            <a:ext cx="4183199" cy="1833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653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Example</a:t>
            </a:r>
            <a:r>
              <a:rPr sz="4400" spc="-85" dirty="0"/>
              <a:t> </a:t>
            </a:r>
            <a:r>
              <a:rPr sz="4400" dirty="0"/>
              <a:t>2</a:t>
            </a:r>
            <a:r>
              <a:rPr sz="4400" spc="-80" dirty="0"/>
              <a:t> </a:t>
            </a:r>
            <a:r>
              <a:rPr sz="4400" dirty="0"/>
              <a:t>-</a:t>
            </a:r>
            <a:r>
              <a:rPr sz="4400" spc="-80" dirty="0"/>
              <a:t> </a:t>
            </a:r>
            <a:r>
              <a:rPr sz="4400" spc="-10" dirty="0"/>
              <a:t>Amazon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349425" y="1294376"/>
            <a:ext cx="10948670" cy="31076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69900" marR="2240280" indent="-309245">
              <a:lnSpc>
                <a:spcPts val="3529"/>
              </a:lnSpc>
              <a:spcBef>
                <a:spcPts val="75"/>
              </a:spcBef>
              <a:buSzPct val="64285"/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existing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industry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relied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upon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reasonable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extent) </a:t>
            </a:r>
            <a:r>
              <a:rPr sz="2800" dirty="0">
                <a:latin typeface="Calibri"/>
                <a:cs typeface="Calibri"/>
              </a:rPr>
              <a:t>“high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street”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shops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sales</a:t>
            </a:r>
            <a:endParaRPr sz="2800">
              <a:latin typeface="Calibri"/>
              <a:cs typeface="Calibri"/>
            </a:endParaRPr>
          </a:p>
          <a:p>
            <a:pPr marL="469265" indent="-308610">
              <a:lnSpc>
                <a:spcPct val="100000"/>
              </a:lnSpc>
              <a:spcBef>
                <a:spcPts val="20"/>
              </a:spcBef>
              <a:buSzPct val="64285"/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latin typeface="Calibri"/>
                <a:cs typeface="Calibri"/>
              </a:rPr>
              <a:t>Logistic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costs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were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high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–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delivering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product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shops</a:t>
            </a:r>
            <a:endParaRPr sz="2800">
              <a:latin typeface="Calibri"/>
              <a:cs typeface="Calibri"/>
            </a:endParaRPr>
          </a:p>
          <a:p>
            <a:pPr marL="469265" indent="-308610">
              <a:lnSpc>
                <a:spcPct val="100000"/>
              </a:lnSpc>
              <a:spcBef>
                <a:spcPts val="165"/>
              </a:spcBef>
              <a:buSzPct val="64285"/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latin typeface="Calibri"/>
                <a:cs typeface="Calibri"/>
              </a:rPr>
              <a:t>Rent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costs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were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high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–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shops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tend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city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centres</a:t>
            </a:r>
            <a:endParaRPr sz="2800">
              <a:latin typeface="Calibri"/>
              <a:cs typeface="Calibri"/>
            </a:endParaRPr>
          </a:p>
          <a:p>
            <a:pPr marL="469265" indent="-308610">
              <a:lnSpc>
                <a:spcPct val="100000"/>
              </a:lnSpc>
              <a:spcBef>
                <a:spcPts val="170"/>
              </a:spcBef>
              <a:buSzPct val="64285"/>
              <a:buFont typeface="Arial MT"/>
              <a:buChar char="•"/>
              <a:tabLst>
                <a:tab pos="469265" algn="l"/>
              </a:tabLst>
            </a:pPr>
            <a:r>
              <a:rPr sz="2800" spc="-20" dirty="0">
                <a:latin typeface="Calibri"/>
                <a:cs typeface="Calibri"/>
              </a:rPr>
              <a:t>Markets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were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limited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–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customers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shop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product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b="1" dirty="0">
                <a:latin typeface="Calibri"/>
                <a:cs typeface="Calibri"/>
              </a:rPr>
              <a:t>How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did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Amazon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use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IT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to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gain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competitive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advantage?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95675" y="74525"/>
            <a:ext cx="1960524" cy="19605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13164" y="4928440"/>
            <a:ext cx="3661031" cy="60355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1874" rIns="0" bIns="0" rtlCol="0">
            <a:spAutoFit/>
          </a:bodyPr>
          <a:lstStyle/>
          <a:p>
            <a:pPr marL="150495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Example</a:t>
            </a:r>
            <a:r>
              <a:rPr sz="4400" spc="-85" dirty="0"/>
              <a:t> </a:t>
            </a:r>
            <a:r>
              <a:rPr sz="4400" dirty="0"/>
              <a:t>3</a:t>
            </a:r>
            <a:r>
              <a:rPr sz="4400" spc="-80" dirty="0"/>
              <a:t> </a:t>
            </a:r>
            <a:r>
              <a:rPr sz="4400" dirty="0"/>
              <a:t>-</a:t>
            </a:r>
            <a:r>
              <a:rPr sz="4400" spc="-80" dirty="0"/>
              <a:t> </a:t>
            </a:r>
            <a:r>
              <a:rPr sz="4400" spc="-20" dirty="0"/>
              <a:t>Lego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0225" y="1159318"/>
            <a:ext cx="10332085" cy="224282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469265" indent="-308610">
              <a:lnSpc>
                <a:spcPct val="100000"/>
              </a:lnSpc>
              <a:spcBef>
                <a:spcPts val="600"/>
              </a:spcBef>
              <a:buSzPct val="64285"/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brand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become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“old”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market</a:t>
            </a:r>
            <a:endParaRPr sz="2800">
              <a:latin typeface="Calibri"/>
              <a:cs typeface="Calibri"/>
            </a:endParaRPr>
          </a:p>
          <a:p>
            <a:pPr marL="469265" indent="-308610">
              <a:lnSpc>
                <a:spcPct val="100000"/>
              </a:lnSpc>
              <a:spcBef>
                <a:spcPts val="505"/>
              </a:spcBef>
              <a:buSzPct val="64285"/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latin typeface="Calibri"/>
                <a:cs typeface="Calibri"/>
              </a:rPr>
              <a:t>New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products,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especially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computer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based,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were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taking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market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share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950"/>
              </a:spcBef>
            </a:pP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b="1" dirty="0">
                <a:latin typeface="Calibri"/>
                <a:cs typeface="Calibri"/>
              </a:rPr>
              <a:t>LEGO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strategy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–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How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did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they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utilise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IT?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7850" y="3351498"/>
            <a:ext cx="4601450" cy="258832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100" y="-4762"/>
            <a:ext cx="4911725" cy="3079750"/>
            <a:chOff x="51100" y="-4762"/>
            <a:chExt cx="4911725" cy="3079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625" y="0"/>
              <a:ext cx="4892375" cy="30649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5862" y="0"/>
              <a:ext cx="4902200" cy="3070225"/>
            </a:xfrm>
            <a:custGeom>
              <a:avLst/>
              <a:gdLst/>
              <a:ahLst/>
              <a:cxnLst/>
              <a:rect l="l" t="t" r="r" b="b"/>
              <a:pathLst>
                <a:path w="4902200" h="3070225">
                  <a:moveTo>
                    <a:pt x="4901900" y="0"/>
                  </a:moveTo>
                  <a:lnTo>
                    <a:pt x="4901900" y="3069663"/>
                  </a:lnTo>
                  <a:lnTo>
                    <a:pt x="0" y="3069663"/>
                  </a:lnTo>
                  <a:lnTo>
                    <a:pt x="0" y="0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3392062" y="129233"/>
            <a:ext cx="8202295" cy="5704840"/>
            <a:chOff x="3392062" y="129233"/>
            <a:chExt cx="8202295" cy="570484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04606" y="129233"/>
              <a:ext cx="4089260" cy="37528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92062" y="2453900"/>
              <a:ext cx="5407874" cy="33799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871543"/>
            <a:ext cx="12192000" cy="986790"/>
            <a:chOff x="0" y="5871543"/>
            <a:chExt cx="12192000" cy="986790"/>
          </a:xfrm>
        </p:grpSpPr>
        <p:sp>
          <p:nvSpPr>
            <p:cNvPr id="3" name="object 3"/>
            <p:cNvSpPr/>
            <p:nvPr/>
          </p:nvSpPr>
          <p:spPr>
            <a:xfrm>
              <a:off x="0" y="6019800"/>
              <a:ext cx="12192000" cy="838835"/>
            </a:xfrm>
            <a:custGeom>
              <a:avLst/>
              <a:gdLst/>
              <a:ahLst/>
              <a:cxnLst/>
              <a:rect l="l" t="t" r="r" b="b"/>
              <a:pathLst>
                <a:path w="12192000" h="838834">
                  <a:moveTo>
                    <a:pt x="12191999" y="838499"/>
                  </a:moveTo>
                  <a:lnTo>
                    <a:pt x="0" y="8384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838499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0799" y="5871543"/>
              <a:ext cx="2871693" cy="8382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9947" rIns="0" bIns="0" rtlCol="0">
            <a:spAutoFit/>
          </a:bodyPr>
          <a:lstStyle/>
          <a:p>
            <a:pPr marL="3659504">
              <a:lnSpc>
                <a:spcPct val="100000"/>
              </a:lnSpc>
              <a:spcBef>
                <a:spcPts val="100"/>
              </a:spcBef>
            </a:pPr>
            <a:r>
              <a:rPr dirty="0"/>
              <a:t>Group</a:t>
            </a:r>
            <a:r>
              <a:rPr spc="-130" dirty="0"/>
              <a:t> </a:t>
            </a:r>
            <a:r>
              <a:rPr spc="-10" dirty="0"/>
              <a:t>Activity!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22245" y="1368809"/>
            <a:ext cx="10405745" cy="3828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6095" marR="5080" indent="-494030">
              <a:lnSpc>
                <a:spcPct val="100000"/>
              </a:lnSpc>
              <a:spcBef>
                <a:spcPts val="100"/>
              </a:spcBef>
              <a:buFont typeface="Calibri"/>
              <a:buAutoNum type="arabicPeriod"/>
              <a:tabLst>
                <a:tab pos="506095" algn="l"/>
              </a:tabLst>
            </a:pPr>
            <a:r>
              <a:rPr sz="2700" dirty="0">
                <a:latin typeface="Calibri"/>
                <a:cs typeface="Calibri"/>
              </a:rPr>
              <a:t>Choose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company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discuss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examples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strategic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decisions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that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this </a:t>
            </a:r>
            <a:r>
              <a:rPr sz="2700" dirty="0">
                <a:latin typeface="Calibri"/>
                <a:cs typeface="Calibri"/>
              </a:rPr>
              <a:t>company</a:t>
            </a:r>
            <a:r>
              <a:rPr sz="2700" spc="-9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would</a:t>
            </a:r>
            <a:r>
              <a:rPr sz="2700" spc="-9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typically</a:t>
            </a:r>
            <a:r>
              <a:rPr sz="2700" spc="-9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make</a:t>
            </a:r>
            <a:r>
              <a:rPr sz="2700" spc="-9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at;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Calibri"/>
              <a:buAutoNum type="arabicPeriod"/>
            </a:pPr>
            <a:endParaRPr sz="2700">
              <a:latin typeface="Calibri"/>
              <a:cs typeface="Calibri"/>
            </a:endParaRPr>
          </a:p>
          <a:p>
            <a:pPr marL="963294" lvl="1" indent="-488950">
              <a:lnSpc>
                <a:spcPct val="100000"/>
              </a:lnSpc>
              <a:spcBef>
                <a:spcPts val="5"/>
              </a:spcBef>
              <a:buAutoNum type="alphaLcPeriod"/>
              <a:tabLst>
                <a:tab pos="963294" algn="l"/>
              </a:tabLst>
            </a:pPr>
            <a:r>
              <a:rPr sz="2700" b="1" spc="-10" dirty="0">
                <a:latin typeface="Calibri"/>
                <a:cs typeface="Calibri"/>
              </a:rPr>
              <a:t>Corporate</a:t>
            </a:r>
            <a:r>
              <a:rPr sz="2700" b="1" spc="-6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Level</a:t>
            </a:r>
            <a:r>
              <a:rPr sz="2700" b="1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(i.e.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CEO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/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Senior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Executives),</a:t>
            </a:r>
            <a:endParaRPr sz="2700">
              <a:latin typeface="Calibri"/>
              <a:cs typeface="Calibri"/>
            </a:endParaRPr>
          </a:p>
          <a:p>
            <a:pPr marL="963294" marR="2852420" lvl="1" indent="-504190">
              <a:lnSpc>
                <a:spcPct val="114999"/>
              </a:lnSpc>
              <a:spcBef>
                <a:spcPts val="1000"/>
              </a:spcBef>
              <a:buAutoNum type="alphaLcPeriod"/>
              <a:tabLst>
                <a:tab pos="963294" algn="l"/>
              </a:tabLst>
            </a:pPr>
            <a:r>
              <a:rPr sz="2700" b="1" dirty="0">
                <a:latin typeface="Calibri"/>
                <a:cs typeface="Calibri"/>
              </a:rPr>
              <a:t>Business</a:t>
            </a:r>
            <a:r>
              <a:rPr sz="2700" b="1" spc="-5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Level</a:t>
            </a:r>
            <a:r>
              <a:rPr sz="2700" b="1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(i.e.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local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business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unit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/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specific </a:t>
            </a:r>
            <a:r>
              <a:rPr sz="2700" dirty="0">
                <a:latin typeface="Calibri"/>
                <a:cs typeface="Calibri"/>
              </a:rPr>
              <a:t>department),</a:t>
            </a:r>
            <a:r>
              <a:rPr sz="2700" spc="-8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and</a:t>
            </a:r>
            <a:endParaRPr sz="2700">
              <a:latin typeface="Calibri"/>
              <a:cs typeface="Calibri"/>
            </a:endParaRPr>
          </a:p>
          <a:p>
            <a:pPr marL="963294" marR="3156585" lvl="1" indent="-464184">
              <a:lnSpc>
                <a:spcPct val="114999"/>
              </a:lnSpc>
              <a:spcBef>
                <a:spcPts val="1000"/>
              </a:spcBef>
              <a:buAutoNum type="alphaLcPeriod"/>
              <a:tabLst>
                <a:tab pos="963294" algn="l"/>
              </a:tabLst>
            </a:pPr>
            <a:r>
              <a:rPr sz="2700" b="1" dirty="0">
                <a:latin typeface="Calibri"/>
                <a:cs typeface="Calibri"/>
              </a:rPr>
              <a:t>Functional</a:t>
            </a:r>
            <a:r>
              <a:rPr sz="2700" b="1" spc="-7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Level</a:t>
            </a:r>
            <a:r>
              <a:rPr sz="2700" b="1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(i.e.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dealing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specifically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with </a:t>
            </a:r>
            <a:r>
              <a:rPr sz="2700" dirty="0">
                <a:latin typeface="Calibri"/>
                <a:cs typeface="Calibri"/>
              </a:rPr>
              <a:t>customers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/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clients)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871543"/>
            <a:ext cx="12192000" cy="986790"/>
            <a:chOff x="0" y="5871543"/>
            <a:chExt cx="12192000" cy="986790"/>
          </a:xfrm>
        </p:grpSpPr>
        <p:sp>
          <p:nvSpPr>
            <p:cNvPr id="3" name="object 3"/>
            <p:cNvSpPr/>
            <p:nvPr/>
          </p:nvSpPr>
          <p:spPr>
            <a:xfrm>
              <a:off x="0" y="6019800"/>
              <a:ext cx="12192000" cy="838835"/>
            </a:xfrm>
            <a:custGeom>
              <a:avLst/>
              <a:gdLst/>
              <a:ahLst/>
              <a:cxnLst/>
              <a:rect l="l" t="t" r="r" b="b"/>
              <a:pathLst>
                <a:path w="12192000" h="838834">
                  <a:moveTo>
                    <a:pt x="12191999" y="838499"/>
                  </a:moveTo>
                  <a:lnTo>
                    <a:pt x="0" y="8384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838499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0799" y="5871543"/>
              <a:ext cx="2871693" cy="8382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4625" y="914501"/>
            <a:ext cx="2404525" cy="727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12925" y="1837824"/>
            <a:ext cx="3366148" cy="20327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53966" y="501514"/>
            <a:ext cx="2591528" cy="132091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1245" y="4343624"/>
            <a:ext cx="3812024" cy="10469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94662" y="3723850"/>
            <a:ext cx="2450025" cy="185667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19535" y="2471976"/>
            <a:ext cx="426339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0" i="1" spc="-220" dirty="0">
                <a:solidFill>
                  <a:srgbClr val="000000"/>
                </a:solidFill>
                <a:latin typeface="Cambria"/>
                <a:cs typeface="Cambria"/>
              </a:rPr>
              <a:t>Questions?</a:t>
            </a:r>
            <a:endParaRPr sz="8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00375"/>
            <a:ext cx="12192000" cy="6657975"/>
            <a:chOff x="0" y="200375"/>
            <a:chExt cx="12192000" cy="6657975"/>
          </a:xfrm>
        </p:grpSpPr>
        <p:sp>
          <p:nvSpPr>
            <p:cNvPr id="3" name="object 3"/>
            <p:cNvSpPr/>
            <p:nvPr/>
          </p:nvSpPr>
          <p:spPr>
            <a:xfrm>
              <a:off x="0" y="6019800"/>
              <a:ext cx="12192000" cy="838835"/>
            </a:xfrm>
            <a:custGeom>
              <a:avLst/>
              <a:gdLst/>
              <a:ahLst/>
              <a:cxnLst/>
              <a:rect l="l" t="t" r="r" b="b"/>
              <a:pathLst>
                <a:path w="12192000" h="838834">
                  <a:moveTo>
                    <a:pt x="12191999" y="838499"/>
                  </a:moveTo>
                  <a:lnTo>
                    <a:pt x="0" y="8384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838499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0799" y="5871543"/>
              <a:ext cx="2871693" cy="8382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16212" y="200375"/>
              <a:ext cx="6159574" cy="572684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993</Words>
  <Application>Microsoft Office PowerPoint</Application>
  <PresentationFormat>Widescreen</PresentationFormat>
  <Paragraphs>124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Arial MT</vt:lpstr>
      <vt:lpstr>Calibri</vt:lpstr>
      <vt:lpstr>Cambria</vt:lpstr>
      <vt:lpstr>Georgia</vt:lpstr>
      <vt:lpstr>Office Theme</vt:lpstr>
      <vt:lpstr>Strategic Business &amp; Professional Development</vt:lpstr>
      <vt:lpstr>Housekeeping</vt:lpstr>
      <vt:lpstr>Contacting me</vt:lpstr>
      <vt:lpstr>What you can expect of me</vt:lpstr>
      <vt:lpstr>What I expect of you</vt:lpstr>
      <vt:lpstr>Module Structure</vt:lpstr>
      <vt:lpstr>Questions, comments, feedback</vt:lpstr>
      <vt:lpstr>Extra info</vt:lpstr>
      <vt:lpstr>What’s your interesting fact?</vt:lpstr>
      <vt:lpstr>Continuous Assessment</vt:lpstr>
      <vt:lpstr>Questions?</vt:lpstr>
      <vt:lpstr>PowerPoint Presentation</vt:lpstr>
      <vt:lpstr>A formal Definition…</vt:lpstr>
      <vt:lpstr>Forbes says…</vt:lpstr>
      <vt:lpstr>Plan vs Strategy…?</vt:lpstr>
      <vt:lpstr>Strategy / Plan / Goal</vt:lpstr>
      <vt:lpstr>Example…</vt:lpstr>
      <vt:lpstr>What Business wants from a Strategy…</vt:lpstr>
      <vt:lpstr>Business Measures</vt:lpstr>
      <vt:lpstr>Business Measures</vt:lpstr>
      <vt:lpstr>Breakeven – Finance &amp; Strategy</vt:lpstr>
      <vt:lpstr>Questions?</vt:lpstr>
      <vt:lpstr>Use of IT for a Competitive Advantage</vt:lpstr>
      <vt:lpstr>Example - Ryanair</vt:lpstr>
      <vt:lpstr>Example 2 - Amazon</vt:lpstr>
      <vt:lpstr>Example 3 - Lego</vt:lpstr>
      <vt:lpstr>PowerPoint Presentation</vt:lpstr>
      <vt:lpstr>Group Activity!</vt:lpstr>
      <vt:lpstr>PowerPoint Presentation</vt:lpstr>
      <vt:lpstr>Questions?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1 - Module Introduction</dc:title>
  <dc:creator>Ciaran Lynch</dc:creator>
  <cp:lastModifiedBy>Ciaran Lynch</cp:lastModifiedBy>
  <cp:revision>3</cp:revision>
  <dcterms:created xsi:type="dcterms:W3CDTF">2026-01-04T10:15:22Z</dcterms:created>
  <dcterms:modified xsi:type="dcterms:W3CDTF">2026-09-17T16:48:36Z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2026-01-04T00:00:00Z</vt:filetime>
  </property>
  <property fmtid="{D5CDD505-2E9C-101B-9397-08002B2CF9AE}" pid="3" name="Creator">
    <vt:lpwstr>Google</vt:lpwstr>
  </property>
  <property fmtid="{D5CDD505-2E9C-101B-9397-08002B2CF9AE}" pid="4" name="LastSaved">
    <vt:filetime>2026-01-04T00:00:00Z</vt:filetime>
  </property>
</Properties>
</file>